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8" r:id="rId13"/>
    <p:sldId id="272" r:id="rId14"/>
    <p:sldId id="273" r:id="rId15"/>
    <p:sldId id="269" r:id="rId16"/>
    <p:sldId id="270" r:id="rId17"/>
    <p:sldId id="265" r:id="rId18"/>
    <p:sldId id="271" r:id="rId19"/>
  </p:sldIdLst>
  <p:sldSz cx="18288000" cy="10287000"/>
  <p:notesSz cx="6858000" cy="9144000"/>
  <p:embeddedFontLst>
    <p:embeddedFont>
      <p:font typeface="Agrandir Narrow Bold" panose="020B0604020202020204" charset="0"/>
      <p:regular r:id="rId20"/>
    </p:embeddedFont>
    <p:embeddedFont>
      <p:font typeface="Agrandir Narrow Bold Italics" panose="020B0604020202020204" charset="0"/>
      <p:regular r:id="rId21"/>
    </p:embeddedFont>
    <p:embeddedFont>
      <p:font typeface="B Nazanin" panose="00000400000000000000" pitchFamily="2" charset="-78"/>
      <p:regular r:id="rId22"/>
    </p:embeddedFont>
    <p:embeddedFont>
      <p:font typeface="Gill Sans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1042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8.svg"/><Relationship Id="rId4" Type="http://schemas.openxmlformats.org/officeDocument/2006/relationships/image" Target="../media/image10.sv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8.svg"/><Relationship Id="rId4" Type="http://schemas.openxmlformats.org/officeDocument/2006/relationships/image" Target="../media/image10.sv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8.svg"/><Relationship Id="rId4" Type="http://schemas.openxmlformats.org/officeDocument/2006/relationships/image" Target="../media/image10.svg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8.svg"/><Relationship Id="rId4" Type="http://schemas.openxmlformats.org/officeDocument/2006/relationships/image" Target="../media/image10.svg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8.svg"/><Relationship Id="rId4" Type="http://schemas.openxmlformats.org/officeDocument/2006/relationships/image" Target="../media/image10.svg"/><Relationship Id="rId9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8.svg"/><Relationship Id="rId4" Type="http://schemas.openxmlformats.org/officeDocument/2006/relationships/image" Target="../media/image10.svg"/><Relationship Id="rId9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8.svg"/><Relationship Id="rId4" Type="http://schemas.openxmlformats.org/officeDocument/2006/relationships/image" Target="../media/image10.svg"/><Relationship Id="rId9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8.svg"/><Relationship Id="rId4" Type="http://schemas.openxmlformats.org/officeDocument/2006/relationships/image" Target="../media/image10.svg"/><Relationship Id="rId9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8.svg"/><Relationship Id="rId4" Type="http://schemas.openxmlformats.org/officeDocument/2006/relationships/image" Target="../media/image10.svg"/><Relationship Id="rId9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0.svg"/><Relationship Id="rId9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8.svg"/><Relationship Id="rId4" Type="http://schemas.openxmlformats.org/officeDocument/2006/relationships/image" Target="../media/image10.svg"/><Relationship Id="rId9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8.svg"/><Relationship Id="rId4" Type="http://schemas.openxmlformats.org/officeDocument/2006/relationships/image" Target="../media/image10.svg"/><Relationship Id="rId9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4962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895" t="-29019" b="-3514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Freeform 4"/>
          <p:cNvSpPr/>
          <p:nvPr/>
        </p:nvSpPr>
        <p:spPr>
          <a:xfrm rot="-4174148" flipH="1">
            <a:off x="-1273162" y="6074651"/>
            <a:ext cx="4603724" cy="3766684"/>
          </a:xfrm>
          <a:custGeom>
            <a:avLst/>
            <a:gdLst/>
            <a:ahLst/>
            <a:cxnLst/>
            <a:rect l="l" t="t" r="r" b="b"/>
            <a:pathLst>
              <a:path w="4603724" h="3766684">
                <a:moveTo>
                  <a:pt x="4603724" y="0"/>
                </a:moveTo>
                <a:lnTo>
                  <a:pt x="0" y="0"/>
                </a:lnTo>
                <a:lnTo>
                  <a:pt x="0" y="3766683"/>
                </a:lnTo>
                <a:lnTo>
                  <a:pt x="4603724" y="3766683"/>
                </a:lnTo>
                <a:lnTo>
                  <a:pt x="460372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756902" y="7518902"/>
            <a:ext cx="15675137" cy="4391996"/>
          </a:xfrm>
          <a:custGeom>
            <a:avLst/>
            <a:gdLst/>
            <a:ahLst/>
            <a:cxnLst/>
            <a:rect l="l" t="t" r="r" b="b"/>
            <a:pathLst>
              <a:path w="15675137" h="4391996">
                <a:moveTo>
                  <a:pt x="0" y="0"/>
                </a:moveTo>
                <a:lnTo>
                  <a:pt x="15675137" y="0"/>
                </a:lnTo>
                <a:lnTo>
                  <a:pt x="15675137" y="4391996"/>
                </a:lnTo>
                <a:lnTo>
                  <a:pt x="0" y="43919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824070" y="1779364"/>
            <a:ext cx="445353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68"/>
              </a:lnSpc>
            </a:pPr>
            <a:r>
              <a:rPr lang="fa-IR" sz="2974" b="1" dirty="0">
                <a:solidFill>
                  <a:srgbClr val="383C5B"/>
                </a:solidFill>
                <a:latin typeface="Agrandir Narrow Bold"/>
                <a:ea typeface="Agrandir Narrow Bold"/>
                <a:cs typeface="B Nazanin" panose="00000400000000000000" pitchFamily="2" charset="-78"/>
                <a:sym typeface="Agrandir Narrow Bold"/>
              </a:rPr>
              <a:t>دانشگاه صنعتی خواجه نصیرالدین طوسی</a:t>
            </a:r>
            <a:endParaRPr lang="en-US" sz="2974" b="1" dirty="0">
              <a:solidFill>
                <a:srgbClr val="383C5B"/>
              </a:solidFill>
              <a:latin typeface="Agrandir Narrow Bold"/>
              <a:ea typeface="Agrandir Narrow Bold"/>
              <a:cs typeface="B Nazanin" panose="00000400000000000000" pitchFamily="2" charset="-78"/>
              <a:sym typeface="Agrandir Narrow Bold"/>
            </a:endParaRPr>
          </a:p>
        </p:txBody>
      </p:sp>
      <p:sp>
        <p:nvSpPr>
          <p:cNvPr id="7" name="Freeform 7"/>
          <p:cNvSpPr/>
          <p:nvPr/>
        </p:nvSpPr>
        <p:spPr>
          <a:xfrm rot="-805285">
            <a:off x="15230774" y="118102"/>
            <a:ext cx="6621020" cy="5417199"/>
          </a:xfrm>
          <a:custGeom>
            <a:avLst/>
            <a:gdLst/>
            <a:ahLst/>
            <a:cxnLst/>
            <a:rect l="l" t="t" r="r" b="b"/>
            <a:pathLst>
              <a:path w="6621020" h="5417199">
                <a:moveTo>
                  <a:pt x="0" y="0"/>
                </a:moveTo>
                <a:lnTo>
                  <a:pt x="6621021" y="0"/>
                </a:lnTo>
                <a:lnTo>
                  <a:pt x="6621021" y="5417199"/>
                </a:lnTo>
                <a:lnTo>
                  <a:pt x="0" y="54171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 flipV="1">
            <a:off x="8548979" y="-1149866"/>
            <a:ext cx="14678635" cy="4112787"/>
          </a:xfrm>
          <a:custGeom>
            <a:avLst/>
            <a:gdLst/>
            <a:ahLst/>
            <a:cxnLst/>
            <a:rect l="l" t="t" r="r" b="b"/>
            <a:pathLst>
              <a:path w="14678635" h="4112787">
                <a:moveTo>
                  <a:pt x="14678636" y="4112787"/>
                </a:moveTo>
                <a:lnTo>
                  <a:pt x="0" y="4112787"/>
                </a:lnTo>
                <a:lnTo>
                  <a:pt x="0" y="0"/>
                </a:lnTo>
                <a:lnTo>
                  <a:pt x="14678636" y="0"/>
                </a:lnTo>
                <a:lnTo>
                  <a:pt x="14678636" y="411278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TextBox 9"/>
          <p:cNvSpPr txBox="1"/>
          <p:nvPr/>
        </p:nvSpPr>
        <p:spPr>
          <a:xfrm>
            <a:off x="3182801" y="4150622"/>
            <a:ext cx="11922398" cy="1548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2948"/>
              </a:lnSpc>
            </a:pPr>
            <a:r>
              <a:rPr lang="fa-IR" sz="8000" dirty="0">
                <a:cs typeface="B Nazanin" panose="00000400000000000000" pitchFamily="2" charset="-78"/>
              </a:rPr>
              <a:t>بهبود تولید متن با استفاده از</a:t>
            </a:r>
            <a:r>
              <a:rPr lang="en-US" sz="8000" dirty="0">
                <a:cs typeface="B Nazanin" panose="00000400000000000000" pitchFamily="2" charset="-78"/>
              </a:rPr>
              <a:t>  RLHF</a:t>
            </a:r>
            <a:endParaRPr lang="en-US" sz="9600" b="1" dirty="0">
              <a:solidFill>
                <a:srgbClr val="383C5B"/>
              </a:solidFill>
              <a:latin typeface="Gill Sans Bold"/>
              <a:ea typeface="Gill Sans Bold"/>
              <a:cs typeface="B Nazanin" panose="00000400000000000000" pitchFamily="2" charset="-78"/>
              <a:sym typeface="Gill Sans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824069" y="6518077"/>
            <a:ext cx="4639861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8"/>
              </a:lnSpc>
            </a:pPr>
            <a:r>
              <a:rPr lang="fa-IR" sz="2974" b="1" dirty="0">
                <a:solidFill>
                  <a:srgbClr val="383C5B"/>
                </a:solidFill>
                <a:latin typeface="Agrandir Narrow Bold Italics"/>
                <a:ea typeface="Agrandir Narrow Bold Italics"/>
                <a:cs typeface="B Nazanin" panose="00000400000000000000" pitchFamily="2" charset="-78"/>
                <a:sym typeface="Agrandir Narrow Bold Italics"/>
              </a:rPr>
              <a:t>امیرحسین معصوم | زمستان 1404 </a:t>
            </a:r>
            <a:r>
              <a:rPr lang="en-US" sz="2974" b="1" dirty="0">
                <a:solidFill>
                  <a:srgbClr val="383C5B"/>
                </a:solidFill>
                <a:latin typeface="Agrandir Narrow Bold Italics"/>
                <a:ea typeface="Agrandir Narrow Bold Italics"/>
                <a:cs typeface="B Nazanin" panose="00000400000000000000" pitchFamily="2" charset="-78"/>
                <a:sym typeface="Agrandir Narrow Bold Italics"/>
              </a:rPr>
              <a:t>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9C13CEE-9E19-F084-A4CE-F2E16954709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0348" y="331436"/>
            <a:ext cx="1388890" cy="12539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A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B5FCED-F196-CD48-ABC6-D8E4700F3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0451BFD-D05D-7C3D-B757-214A31B14F60}"/>
              </a:ext>
            </a:extLst>
          </p:cNvPr>
          <p:cNvSpPr/>
          <p:nvPr/>
        </p:nvSpPr>
        <p:spPr>
          <a:xfrm>
            <a:off x="45720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895" t="-29019" b="-3514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97831E5-16DF-8E5D-BA35-8EFCFBD07472}"/>
              </a:ext>
            </a:extLst>
          </p:cNvPr>
          <p:cNvSpPr/>
          <p:nvPr/>
        </p:nvSpPr>
        <p:spPr>
          <a:xfrm rot="-4174148" flipH="1">
            <a:off x="-1273162" y="6074651"/>
            <a:ext cx="4603724" cy="3766684"/>
          </a:xfrm>
          <a:custGeom>
            <a:avLst/>
            <a:gdLst/>
            <a:ahLst/>
            <a:cxnLst/>
            <a:rect l="l" t="t" r="r" b="b"/>
            <a:pathLst>
              <a:path w="4603724" h="3766684">
                <a:moveTo>
                  <a:pt x="4603724" y="0"/>
                </a:moveTo>
                <a:lnTo>
                  <a:pt x="0" y="0"/>
                </a:lnTo>
                <a:lnTo>
                  <a:pt x="0" y="3766683"/>
                </a:lnTo>
                <a:lnTo>
                  <a:pt x="4603724" y="3766683"/>
                </a:lnTo>
                <a:lnTo>
                  <a:pt x="460372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0B3F638-54BE-12A2-A336-3805CBA3588B}"/>
              </a:ext>
            </a:extLst>
          </p:cNvPr>
          <p:cNvSpPr/>
          <p:nvPr/>
        </p:nvSpPr>
        <p:spPr>
          <a:xfrm>
            <a:off x="-1756902" y="7518902"/>
            <a:ext cx="15675137" cy="4391996"/>
          </a:xfrm>
          <a:custGeom>
            <a:avLst/>
            <a:gdLst/>
            <a:ahLst/>
            <a:cxnLst/>
            <a:rect l="l" t="t" r="r" b="b"/>
            <a:pathLst>
              <a:path w="15675137" h="4391996">
                <a:moveTo>
                  <a:pt x="0" y="0"/>
                </a:moveTo>
                <a:lnTo>
                  <a:pt x="15675137" y="0"/>
                </a:lnTo>
                <a:lnTo>
                  <a:pt x="15675137" y="4391996"/>
                </a:lnTo>
                <a:lnTo>
                  <a:pt x="0" y="43919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A4AC31E-C8A5-405C-6F58-C5BD2C26B85C}"/>
              </a:ext>
            </a:extLst>
          </p:cNvPr>
          <p:cNvSpPr/>
          <p:nvPr/>
        </p:nvSpPr>
        <p:spPr>
          <a:xfrm rot="-805285">
            <a:off x="15230774" y="118102"/>
            <a:ext cx="6621020" cy="5417199"/>
          </a:xfrm>
          <a:custGeom>
            <a:avLst/>
            <a:gdLst/>
            <a:ahLst/>
            <a:cxnLst/>
            <a:rect l="l" t="t" r="r" b="b"/>
            <a:pathLst>
              <a:path w="6621020" h="5417199">
                <a:moveTo>
                  <a:pt x="0" y="0"/>
                </a:moveTo>
                <a:lnTo>
                  <a:pt x="6621021" y="0"/>
                </a:lnTo>
                <a:lnTo>
                  <a:pt x="6621021" y="5417199"/>
                </a:lnTo>
                <a:lnTo>
                  <a:pt x="0" y="54171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012CD14-B2DF-D945-07CA-CC2E66936ED1}"/>
              </a:ext>
            </a:extLst>
          </p:cNvPr>
          <p:cNvSpPr/>
          <p:nvPr/>
        </p:nvSpPr>
        <p:spPr>
          <a:xfrm flipH="1" flipV="1">
            <a:off x="8548979" y="-1149866"/>
            <a:ext cx="14678635" cy="4112787"/>
          </a:xfrm>
          <a:custGeom>
            <a:avLst/>
            <a:gdLst/>
            <a:ahLst/>
            <a:cxnLst/>
            <a:rect l="l" t="t" r="r" b="b"/>
            <a:pathLst>
              <a:path w="14678635" h="4112787">
                <a:moveTo>
                  <a:pt x="14678636" y="4112787"/>
                </a:moveTo>
                <a:lnTo>
                  <a:pt x="0" y="4112787"/>
                </a:lnTo>
                <a:lnTo>
                  <a:pt x="0" y="0"/>
                </a:lnTo>
                <a:lnTo>
                  <a:pt x="14678636" y="0"/>
                </a:lnTo>
                <a:lnTo>
                  <a:pt x="14678636" y="411278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7BF267A-28E0-AE67-EA53-8CEED24519CA}"/>
              </a:ext>
            </a:extLst>
          </p:cNvPr>
          <p:cNvSpPr txBox="1"/>
          <p:nvPr/>
        </p:nvSpPr>
        <p:spPr>
          <a:xfrm>
            <a:off x="3925093" y="6058320"/>
            <a:ext cx="10439399" cy="1935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68"/>
              </a:lnSpc>
            </a:pPr>
            <a:r>
              <a:rPr lang="en-US" sz="41300" dirty="0">
                <a:solidFill>
                  <a:srgbClr val="383C5B"/>
                </a:solidFill>
                <a:latin typeface="Besmellah 1" pitchFamily="2" charset="0"/>
                <a:ea typeface="Agrandir Narrow Bold Italics"/>
                <a:cs typeface="B Nazanin" panose="00000400000000000000" pitchFamily="2" charset="-78"/>
                <a:sym typeface="Agrandir Narrow Bold Italics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22327244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895" t="-29019" b="-3514"/>
            </a:stretch>
          </a:blipFill>
        </p:spPr>
      </p:sp>
      <p:sp>
        <p:nvSpPr>
          <p:cNvPr id="3" name="Freeform 3"/>
          <p:cNvSpPr/>
          <p:nvPr/>
        </p:nvSpPr>
        <p:spPr>
          <a:xfrm rot="-4174148" flipH="1">
            <a:off x="-1016439" y="7327751"/>
            <a:ext cx="3424109" cy="2801544"/>
          </a:xfrm>
          <a:custGeom>
            <a:avLst/>
            <a:gdLst/>
            <a:ahLst/>
            <a:cxnLst/>
            <a:rect l="l" t="t" r="r" b="b"/>
            <a:pathLst>
              <a:path w="3424109" h="2801544">
                <a:moveTo>
                  <a:pt x="3424109" y="0"/>
                </a:moveTo>
                <a:lnTo>
                  <a:pt x="0" y="0"/>
                </a:lnTo>
                <a:lnTo>
                  <a:pt x="0" y="2801543"/>
                </a:lnTo>
                <a:lnTo>
                  <a:pt x="3424109" y="2801543"/>
                </a:lnTo>
                <a:lnTo>
                  <a:pt x="342410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565799" y="8302504"/>
            <a:ext cx="12878442" cy="3608394"/>
          </a:xfrm>
          <a:custGeom>
            <a:avLst/>
            <a:gdLst/>
            <a:ahLst/>
            <a:cxnLst/>
            <a:rect l="l" t="t" r="r" b="b"/>
            <a:pathLst>
              <a:path w="12878442" h="3608394">
                <a:moveTo>
                  <a:pt x="0" y="0"/>
                </a:moveTo>
                <a:lnTo>
                  <a:pt x="12878441" y="0"/>
                </a:lnTo>
                <a:lnTo>
                  <a:pt x="12878441" y="3608394"/>
                </a:lnTo>
                <a:lnTo>
                  <a:pt x="0" y="36083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805285">
            <a:off x="16172707" y="7272"/>
            <a:ext cx="5564319" cy="4552624"/>
          </a:xfrm>
          <a:custGeom>
            <a:avLst/>
            <a:gdLst/>
            <a:ahLst/>
            <a:cxnLst/>
            <a:rect l="l" t="t" r="r" b="b"/>
            <a:pathLst>
              <a:path w="5564319" h="4552624">
                <a:moveTo>
                  <a:pt x="0" y="0"/>
                </a:moveTo>
                <a:lnTo>
                  <a:pt x="5564319" y="0"/>
                </a:lnTo>
                <a:lnTo>
                  <a:pt x="5564319" y="4552624"/>
                </a:lnTo>
                <a:lnTo>
                  <a:pt x="0" y="45526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7669717" y="-1368884"/>
            <a:ext cx="11317876" cy="3171141"/>
          </a:xfrm>
          <a:custGeom>
            <a:avLst/>
            <a:gdLst/>
            <a:ahLst/>
            <a:cxnLst/>
            <a:rect l="l" t="t" r="r" b="b"/>
            <a:pathLst>
              <a:path w="11317876" h="3171141">
                <a:moveTo>
                  <a:pt x="11317876" y="3171140"/>
                </a:moveTo>
                <a:lnTo>
                  <a:pt x="0" y="3171140"/>
                </a:lnTo>
                <a:lnTo>
                  <a:pt x="0" y="0"/>
                </a:lnTo>
                <a:lnTo>
                  <a:pt x="11317876" y="0"/>
                </a:lnTo>
                <a:lnTo>
                  <a:pt x="11317876" y="317114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567923" y="2049861"/>
            <a:ext cx="11036071" cy="6647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fa-IR" sz="3600" dirty="0">
                <a:cs typeface="B Nazanin" panose="00000400000000000000" pitchFamily="2" charset="-78"/>
              </a:rPr>
              <a:t>مقدمه و انگیزه پروژه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fa-IR" sz="3600" dirty="0">
                <a:cs typeface="B Nazanin" panose="00000400000000000000" pitchFamily="2" charset="-78"/>
              </a:rPr>
              <a:t>مسئله اصلی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fa-IR" sz="3600" dirty="0">
                <a:cs typeface="B Nazanin" panose="00000400000000000000" pitchFamily="2" charset="-78"/>
              </a:rPr>
              <a:t>معرفی داده‌ها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fa-IR" sz="3600" dirty="0">
                <a:cs typeface="B Nazanin" panose="00000400000000000000" pitchFamily="2" charset="-78"/>
              </a:rPr>
              <a:t>مدل پایه: </a:t>
            </a:r>
            <a:r>
              <a:rPr lang="en-US" sz="3600" dirty="0">
                <a:cs typeface="B Nazanin" panose="00000400000000000000" pitchFamily="2" charset="-78"/>
              </a:rPr>
              <a:t> SFT </a:t>
            </a:r>
            <a:r>
              <a:rPr lang="fa-IR" sz="3600" dirty="0">
                <a:cs typeface="B Nazanin" panose="00000400000000000000" pitchFamily="2" charset="-78"/>
              </a:rPr>
              <a:t>با داده خام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fa-IR" sz="3600" dirty="0">
                <a:cs typeface="B Nazanin" panose="00000400000000000000" pitchFamily="2" charset="-78"/>
              </a:rPr>
              <a:t>محدودیت‌های آموزش با داده خام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fa-IR" sz="3600" dirty="0">
                <a:cs typeface="B Nazanin" panose="00000400000000000000" pitchFamily="2" charset="-78"/>
              </a:rPr>
              <a:t>فیلتر کردن داده‌ها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fa-IR" sz="3600" dirty="0">
                <a:cs typeface="B Nazanin" panose="00000400000000000000" pitchFamily="2" charset="-78"/>
              </a:rPr>
              <a:t>آموزش </a:t>
            </a:r>
            <a:r>
              <a:rPr lang="en-US" sz="3600" dirty="0">
                <a:cs typeface="B Nazanin" panose="00000400000000000000" pitchFamily="2" charset="-78"/>
              </a:rPr>
              <a:t> SFT </a:t>
            </a:r>
            <a:r>
              <a:rPr lang="fa-IR" sz="3600" dirty="0">
                <a:cs typeface="B Nazanin" panose="00000400000000000000" pitchFamily="2" charset="-78"/>
              </a:rPr>
              <a:t>با داده فیلترشده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fa-IR" sz="3600" dirty="0">
                <a:cs typeface="B Nazanin" panose="00000400000000000000" pitchFamily="2" charset="-78"/>
              </a:rPr>
              <a:t>یادگیری تقویتی با </a:t>
            </a:r>
            <a:r>
              <a:rPr lang="en-US" sz="3600" dirty="0">
                <a:cs typeface="B Nazanin" panose="00000400000000000000" pitchFamily="2" charset="-78"/>
              </a:rPr>
              <a:t>PPO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fa-IR" sz="3600" dirty="0">
                <a:cs typeface="B Nazanin" panose="00000400000000000000" pitchFamily="2" charset="-78"/>
              </a:rPr>
              <a:t>طراحی پاداش</a:t>
            </a:r>
            <a:endParaRPr lang="en-US" sz="3600" dirty="0">
              <a:cs typeface="B Nazanin" panose="00000400000000000000" pitchFamily="2" charset="-78"/>
            </a:endParaRP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fa-IR" sz="3600" dirty="0">
                <a:cs typeface="B Nazanin" panose="00000400000000000000" pitchFamily="2" charset="-78"/>
              </a:rPr>
              <a:t>مقایسه مدل‌ها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fa-IR" sz="3600" dirty="0">
                <a:cs typeface="B Nazanin" panose="00000400000000000000" pitchFamily="2" charset="-78"/>
              </a:rPr>
              <a:t>تحلیل نتایج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fa-IR" sz="3600" dirty="0">
                <a:cs typeface="B Nazanin" panose="00000400000000000000" pitchFamily="2" charset="-78"/>
              </a:rPr>
              <a:t>جمع‌بندی و نتیجه‌گیری</a:t>
            </a:r>
          </a:p>
        </p:txBody>
      </p:sp>
      <p:sp>
        <p:nvSpPr>
          <p:cNvPr id="8" name="Freeform 8"/>
          <p:cNvSpPr/>
          <p:nvPr/>
        </p:nvSpPr>
        <p:spPr>
          <a:xfrm>
            <a:off x="3276246" y="353594"/>
            <a:ext cx="11619426" cy="1696267"/>
          </a:xfrm>
          <a:custGeom>
            <a:avLst/>
            <a:gdLst/>
            <a:ahLst/>
            <a:cxnLst/>
            <a:rect l="l" t="t" r="r" b="b"/>
            <a:pathLst>
              <a:path w="11619426" h="1696267">
                <a:moveTo>
                  <a:pt x="0" y="0"/>
                </a:moveTo>
                <a:lnTo>
                  <a:pt x="11619425" y="0"/>
                </a:lnTo>
                <a:lnTo>
                  <a:pt x="11619425" y="1696267"/>
                </a:lnTo>
                <a:lnTo>
                  <a:pt x="0" y="16962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105400" y="424180"/>
            <a:ext cx="8719027" cy="1218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20"/>
              </a:lnSpc>
              <a:spcBef>
                <a:spcPct val="0"/>
              </a:spcBef>
            </a:pPr>
            <a:r>
              <a:rPr lang="fa-IR" sz="6800" b="1" dirty="0">
                <a:solidFill>
                  <a:srgbClr val="FFFFFF"/>
                </a:solidFill>
                <a:latin typeface="Gill Sans Bold"/>
                <a:ea typeface="Gill Sans Bold"/>
                <a:cs typeface="B Nazanin" panose="00000400000000000000" pitchFamily="2" charset="-78"/>
                <a:sym typeface="Gill Sans Bold"/>
              </a:rPr>
              <a:t>فهرست مطالب</a:t>
            </a:r>
            <a:r>
              <a:rPr lang="en-US" sz="6800" b="1" dirty="0">
                <a:solidFill>
                  <a:srgbClr val="FFFFFF"/>
                </a:solidFill>
                <a:latin typeface="Gill Sans Bold"/>
                <a:ea typeface="Gill Sans Bold"/>
                <a:cs typeface="Gill Sans Bold"/>
                <a:sym typeface="Gill Sans Bold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9735" y="3284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895" t="-29019" b="-3514"/>
            </a:stretch>
          </a:blipFill>
        </p:spPr>
      </p:sp>
      <p:sp>
        <p:nvSpPr>
          <p:cNvPr id="3" name="Freeform 3"/>
          <p:cNvSpPr/>
          <p:nvPr/>
        </p:nvSpPr>
        <p:spPr>
          <a:xfrm rot="-642096" flipH="1">
            <a:off x="-2470983" y="2094098"/>
            <a:ext cx="4603724" cy="3766684"/>
          </a:xfrm>
          <a:custGeom>
            <a:avLst/>
            <a:gdLst/>
            <a:ahLst/>
            <a:cxnLst/>
            <a:rect l="l" t="t" r="r" b="b"/>
            <a:pathLst>
              <a:path w="4603724" h="3766684">
                <a:moveTo>
                  <a:pt x="4603725" y="0"/>
                </a:moveTo>
                <a:lnTo>
                  <a:pt x="0" y="0"/>
                </a:lnTo>
                <a:lnTo>
                  <a:pt x="0" y="3766683"/>
                </a:lnTo>
                <a:lnTo>
                  <a:pt x="4603725" y="3766683"/>
                </a:lnTo>
                <a:lnTo>
                  <a:pt x="460372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416096" y="7643527"/>
            <a:ext cx="16936602" cy="4745444"/>
          </a:xfrm>
          <a:custGeom>
            <a:avLst/>
            <a:gdLst/>
            <a:ahLst/>
            <a:cxnLst/>
            <a:rect l="l" t="t" r="r" b="b"/>
            <a:pathLst>
              <a:path w="16936602" h="4745444">
                <a:moveTo>
                  <a:pt x="0" y="0"/>
                </a:moveTo>
                <a:lnTo>
                  <a:pt x="16936602" y="0"/>
                </a:lnTo>
                <a:lnTo>
                  <a:pt x="16936602" y="4745444"/>
                </a:lnTo>
                <a:lnTo>
                  <a:pt x="0" y="47454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802037">
            <a:off x="14977490" y="4375867"/>
            <a:ext cx="6621020" cy="5417199"/>
          </a:xfrm>
          <a:custGeom>
            <a:avLst/>
            <a:gdLst/>
            <a:ahLst/>
            <a:cxnLst/>
            <a:rect l="l" t="t" r="r" b="b"/>
            <a:pathLst>
              <a:path w="6621020" h="5417199">
                <a:moveTo>
                  <a:pt x="0" y="0"/>
                </a:moveTo>
                <a:lnTo>
                  <a:pt x="6621020" y="0"/>
                </a:lnTo>
                <a:lnTo>
                  <a:pt x="6621020" y="5417198"/>
                </a:lnTo>
                <a:lnTo>
                  <a:pt x="0" y="54171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-12985570" y="-2263645"/>
            <a:ext cx="19111785" cy="5354906"/>
          </a:xfrm>
          <a:custGeom>
            <a:avLst/>
            <a:gdLst/>
            <a:ahLst/>
            <a:cxnLst/>
            <a:rect l="l" t="t" r="r" b="b"/>
            <a:pathLst>
              <a:path w="19111785" h="5354906">
                <a:moveTo>
                  <a:pt x="19111785" y="5354906"/>
                </a:moveTo>
                <a:lnTo>
                  <a:pt x="0" y="5354906"/>
                </a:lnTo>
                <a:lnTo>
                  <a:pt x="0" y="0"/>
                </a:lnTo>
                <a:lnTo>
                  <a:pt x="19111785" y="0"/>
                </a:lnTo>
                <a:lnTo>
                  <a:pt x="19111785" y="535490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334287" y="1684066"/>
            <a:ext cx="11619426" cy="1696267"/>
          </a:xfrm>
          <a:custGeom>
            <a:avLst/>
            <a:gdLst/>
            <a:ahLst/>
            <a:cxnLst/>
            <a:rect l="l" t="t" r="r" b="b"/>
            <a:pathLst>
              <a:path w="11619426" h="1696267">
                <a:moveTo>
                  <a:pt x="0" y="0"/>
                </a:moveTo>
                <a:lnTo>
                  <a:pt x="11619426" y="0"/>
                </a:lnTo>
                <a:lnTo>
                  <a:pt x="11619426" y="1696267"/>
                </a:lnTo>
                <a:lnTo>
                  <a:pt x="0" y="169626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585224" y="1696913"/>
            <a:ext cx="6802103" cy="1320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  <a:spcBef>
                <a:spcPct val="0"/>
              </a:spcBef>
            </a:pPr>
            <a:r>
              <a:rPr lang="fa-IR" sz="8000" dirty="0">
                <a:solidFill>
                  <a:schemeClr val="bg1"/>
                </a:solidFill>
                <a:cs typeface="B Nazanin" panose="00000400000000000000" pitchFamily="2" charset="-78"/>
              </a:rPr>
              <a:t>مقدمه</a:t>
            </a:r>
            <a:endParaRPr lang="en-US" sz="7354" b="1" dirty="0">
              <a:solidFill>
                <a:schemeClr val="bg1"/>
              </a:solidFill>
              <a:latin typeface="Gill Sans Bold"/>
              <a:ea typeface="Gill Sans Bold"/>
              <a:cs typeface="B Nazanin" panose="00000400000000000000" pitchFamily="2" charset="-78"/>
              <a:sym typeface="Gill Sans 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91B63D-EAA7-C633-9847-E0449D32338B}"/>
              </a:ext>
            </a:extLst>
          </p:cNvPr>
          <p:cNvSpPr txBox="1"/>
          <p:nvPr/>
        </p:nvSpPr>
        <p:spPr>
          <a:xfrm>
            <a:off x="1268881" y="4152900"/>
            <a:ext cx="1572371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cs typeface="B Nazanin" panose="00000400000000000000" pitchFamily="2" charset="-78"/>
              </a:rPr>
              <a:t>در سال‌های اخیر، مدل‌های زبانی بزرگ توانایی چشمگیری در تولید متن طبیعی از خود نشان داده‌اند.</a:t>
            </a:r>
            <a:br>
              <a:rPr lang="fa-IR" sz="4000" dirty="0">
                <a:cs typeface="B Nazanin" panose="00000400000000000000" pitchFamily="2" charset="-78"/>
              </a:rPr>
            </a:br>
            <a:r>
              <a:rPr lang="fa-IR" sz="4000" dirty="0">
                <a:cs typeface="B Nazanin" panose="00000400000000000000" pitchFamily="2" charset="-78"/>
              </a:rPr>
              <a:t>با این حال، کیفیت خروجی این مدل‌ها </a:t>
            </a:r>
            <a:r>
              <a:rPr lang="fa-IR" sz="4000" b="1" dirty="0">
                <a:cs typeface="B Nazanin" panose="00000400000000000000" pitchFamily="2" charset="-78"/>
              </a:rPr>
              <a:t>به‌شدت وابسته به کیفیت داده و روش آموزش</a:t>
            </a:r>
            <a:r>
              <a:rPr lang="fa-IR" sz="4000" dirty="0">
                <a:cs typeface="B Nazanin" panose="00000400000000000000" pitchFamily="2" charset="-78"/>
              </a:rPr>
              <a:t> آن‌هاست.</a:t>
            </a:r>
          </a:p>
          <a:p>
            <a:pPr algn="r" rtl="1"/>
            <a:r>
              <a:rPr lang="fa-IR" sz="4000" dirty="0">
                <a:cs typeface="B Nazanin" panose="00000400000000000000" pitchFamily="2" charset="-78"/>
              </a:rPr>
              <a:t>در این پروژه، هدف ما بررسی این سوال بود:</a:t>
            </a:r>
          </a:p>
          <a:p>
            <a:pPr algn="r" rtl="1"/>
            <a:r>
              <a:rPr lang="fa-IR" sz="4000" dirty="0">
                <a:cs typeface="B Nazanin" panose="00000400000000000000" pitchFamily="2" charset="-78"/>
              </a:rPr>
              <a:t>آیا می‌توان با ترکیب آموزش نظارت‌شده، فیلتر داده و یادگیری تقویتی،</a:t>
            </a:r>
            <a:br>
              <a:rPr lang="fa-IR" sz="4000" dirty="0">
                <a:cs typeface="B Nazanin" panose="00000400000000000000" pitchFamily="2" charset="-78"/>
              </a:rPr>
            </a:br>
            <a:r>
              <a:rPr lang="fa-IR" sz="4000" dirty="0">
                <a:cs typeface="B Nazanin" panose="00000400000000000000" pitchFamily="2" charset="-78"/>
              </a:rPr>
              <a:t>خروجی یک مدل زبانی را به‌طور معنادار بهبود داد؟</a:t>
            </a:r>
          </a:p>
          <a:p>
            <a:pPr algn="r" rtl="1"/>
            <a:endParaRPr lang="en-US" sz="4000" dirty="0">
              <a:cs typeface="B Nazanin" panose="00000400000000000000" pitchFamily="2" charset="-78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895" t="-29019" b="-3514"/>
            </a:stretch>
          </a:blipFill>
        </p:spPr>
      </p:sp>
      <p:sp>
        <p:nvSpPr>
          <p:cNvPr id="3" name="Freeform 3"/>
          <p:cNvSpPr/>
          <p:nvPr/>
        </p:nvSpPr>
        <p:spPr>
          <a:xfrm rot="4009528" flipH="1">
            <a:off x="12831350" y="-2299004"/>
            <a:ext cx="6095192" cy="4986975"/>
          </a:xfrm>
          <a:custGeom>
            <a:avLst/>
            <a:gdLst/>
            <a:ahLst/>
            <a:cxnLst/>
            <a:rect l="l" t="t" r="r" b="b"/>
            <a:pathLst>
              <a:path w="6095192" h="4986975">
                <a:moveTo>
                  <a:pt x="6095192" y="0"/>
                </a:moveTo>
                <a:lnTo>
                  <a:pt x="0" y="0"/>
                </a:lnTo>
                <a:lnTo>
                  <a:pt x="0" y="4986975"/>
                </a:lnTo>
                <a:lnTo>
                  <a:pt x="6095192" y="4986975"/>
                </a:lnTo>
                <a:lnTo>
                  <a:pt x="609519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986275" y="7265643"/>
            <a:ext cx="19909173" cy="5578325"/>
          </a:xfrm>
          <a:custGeom>
            <a:avLst/>
            <a:gdLst/>
            <a:ahLst/>
            <a:cxnLst/>
            <a:rect l="l" t="t" r="r" b="b"/>
            <a:pathLst>
              <a:path w="19909173" h="5578325">
                <a:moveTo>
                  <a:pt x="0" y="0"/>
                </a:moveTo>
                <a:lnTo>
                  <a:pt x="19909174" y="0"/>
                </a:lnTo>
                <a:lnTo>
                  <a:pt x="19909174" y="5578325"/>
                </a:lnTo>
                <a:lnTo>
                  <a:pt x="0" y="55783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2379029">
            <a:off x="-868078" y="8635217"/>
            <a:ext cx="6621020" cy="5417199"/>
          </a:xfrm>
          <a:custGeom>
            <a:avLst/>
            <a:gdLst/>
            <a:ahLst/>
            <a:cxnLst/>
            <a:rect l="l" t="t" r="r" b="b"/>
            <a:pathLst>
              <a:path w="6621020" h="5417199">
                <a:moveTo>
                  <a:pt x="0" y="0"/>
                </a:moveTo>
                <a:lnTo>
                  <a:pt x="6621020" y="0"/>
                </a:lnTo>
                <a:lnTo>
                  <a:pt x="6621020" y="5417198"/>
                </a:lnTo>
                <a:lnTo>
                  <a:pt x="0" y="54171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-12985570" y="-2263645"/>
            <a:ext cx="19111785" cy="5354906"/>
          </a:xfrm>
          <a:custGeom>
            <a:avLst/>
            <a:gdLst/>
            <a:ahLst/>
            <a:cxnLst/>
            <a:rect l="l" t="t" r="r" b="b"/>
            <a:pathLst>
              <a:path w="19111785" h="5354906">
                <a:moveTo>
                  <a:pt x="19111785" y="5354906"/>
                </a:moveTo>
                <a:lnTo>
                  <a:pt x="0" y="5354906"/>
                </a:lnTo>
                <a:lnTo>
                  <a:pt x="0" y="0"/>
                </a:lnTo>
                <a:lnTo>
                  <a:pt x="19111785" y="0"/>
                </a:lnTo>
                <a:lnTo>
                  <a:pt x="19111785" y="535490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334287" y="1684066"/>
            <a:ext cx="11619426" cy="1696267"/>
          </a:xfrm>
          <a:custGeom>
            <a:avLst/>
            <a:gdLst/>
            <a:ahLst/>
            <a:cxnLst/>
            <a:rect l="l" t="t" r="r" b="b"/>
            <a:pathLst>
              <a:path w="11619426" h="1696267">
                <a:moveTo>
                  <a:pt x="0" y="0"/>
                </a:moveTo>
                <a:lnTo>
                  <a:pt x="11619426" y="0"/>
                </a:lnTo>
                <a:lnTo>
                  <a:pt x="11619426" y="1696267"/>
                </a:lnTo>
                <a:lnTo>
                  <a:pt x="0" y="169626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585224" y="1696913"/>
            <a:ext cx="6802103" cy="1320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  <a:spcBef>
                <a:spcPct val="0"/>
              </a:spcBef>
            </a:pPr>
            <a:r>
              <a:rPr lang="fa-IR" sz="8000" dirty="0">
                <a:solidFill>
                  <a:schemeClr val="bg1"/>
                </a:solidFill>
                <a:cs typeface="B Nazanin" panose="00000400000000000000" pitchFamily="2" charset="-78"/>
              </a:rPr>
              <a:t>مسئله اصلی</a:t>
            </a:r>
            <a:endParaRPr lang="en-US" sz="7354" b="1" dirty="0">
              <a:solidFill>
                <a:schemeClr val="bg1"/>
              </a:solidFill>
              <a:latin typeface="Gill Sans Bold"/>
              <a:ea typeface="Gill Sans Bold"/>
              <a:cs typeface="B Nazanin" panose="00000400000000000000" pitchFamily="2" charset="-78"/>
              <a:sym typeface="Gill Sans 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9D9EB8-72C9-6BA1-500E-40CE211A75AA}"/>
              </a:ext>
            </a:extLst>
          </p:cNvPr>
          <p:cNvSpPr txBox="1"/>
          <p:nvPr/>
        </p:nvSpPr>
        <p:spPr>
          <a:xfrm>
            <a:off x="1295400" y="3977441"/>
            <a:ext cx="137922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400" dirty="0">
                <a:cs typeface="B Nazanin" panose="00000400000000000000" pitchFamily="2" charset="-78"/>
              </a:rPr>
              <a:t>در آموزش مدل‌های زبانی، دو مشکل رایج وجود دارد:</a:t>
            </a: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r>
              <a:rPr lang="fa-IR" sz="4400" dirty="0">
                <a:cs typeface="B Nazanin" panose="00000400000000000000" pitchFamily="2" charset="-78"/>
              </a:rPr>
              <a:t>وجود </a:t>
            </a:r>
            <a:r>
              <a:rPr lang="fa-IR" sz="4400" b="1" dirty="0">
                <a:cs typeface="B Nazanin" panose="00000400000000000000" pitchFamily="2" charset="-78"/>
              </a:rPr>
              <a:t>نویز و داده‌های بی‌کیفیت</a:t>
            </a:r>
            <a:endParaRPr lang="fa-IR" sz="4400" dirty="0">
              <a:cs typeface="B Nazanin" panose="00000400000000000000" pitchFamily="2" charset="-78"/>
            </a:endParaRP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r>
              <a:rPr lang="fa-IR" sz="4400" dirty="0">
                <a:cs typeface="B Nazanin" panose="00000400000000000000" pitchFamily="2" charset="-78"/>
              </a:rPr>
              <a:t>عدم هم‌راستایی خروجی مدل با هدف نهایی (مثل جذابیت یا تعامل)</a:t>
            </a:r>
            <a:endParaRPr lang="en-US" sz="4400" dirty="0">
              <a:cs typeface="B Nazanin" panose="00000400000000000000" pitchFamily="2" charset="-78"/>
            </a:endParaRPr>
          </a:p>
          <a:p>
            <a:pPr lvl="1" algn="r" rtl="1"/>
            <a:endParaRPr lang="fa-IR" sz="4400" dirty="0">
              <a:cs typeface="B Nazanin" panose="00000400000000000000" pitchFamily="2" charset="-78"/>
            </a:endParaRPr>
          </a:p>
          <a:p>
            <a:pPr algn="r" rtl="1"/>
            <a:r>
              <a:rPr lang="fa-IR" sz="4400" dirty="0">
                <a:cs typeface="B Nazanin" panose="00000400000000000000" pitchFamily="2" charset="-78"/>
              </a:rPr>
              <a:t>آموزش صرف با داده خام باعث می‌شود مدل:</a:t>
            </a: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r>
              <a:rPr lang="fa-IR" sz="4400" dirty="0">
                <a:cs typeface="B Nazanin" panose="00000400000000000000" pitchFamily="2" charset="-78"/>
              </a:rPr>
              <a:t>الگوهای سطحی را یاد بگیرد</a:t>
            </a: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r>
              <a:rPr lang="fa-IR" sz="4400" dirty="0">
                <a:cs typeface="B Nazanin" panose="00000400000000000000" pitchFamily="2" charset="-78"/>
              </a:rPr>
              <a:t>هشتگ‌ها و توکن‌های بی‌ربط تولید کند</a:t>
            </a: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r>
              <a:rPr lang="fa-IR" sz="4400" dirty="0">
                <a:cs typeface="B Nazanin" panose="00000400000000000000" pitchFamily="2" charset="-78"/>
              </a:rPr>
              <a:t>از موضوع اصلی منحرف شود</a:t>
            </a:r>
          </a:p>
          <a:p>
            <a:pPr algn="r" rtl="1"/>
            <a:endParaRPr lang="en-US" sz="4400" dirty="0">
              <a:cs typeface="B Nazanin" panose="00000400000000000000" pitchFamily="2" charset="-78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895" t="-29019" b="-3514"/>
            </a:stretch>
          </a:blipFill>
        </p:spPr>
      </p:sp>
      <p:sp>
        <p:nvSpPr>
          <p:cNvPr id="3" name="Freeform 3"/>
          <p:cNvSpPr/>
          <p:nvPr/>
        </p:nvSpPr>
        <p:spPr>
          <a:xfrm rot="-632966" flipH="1">
            <a:off x="-2576225" y="2460796"/>
            <a:ext cx="5366025" cy="4390384"/>
          </a:xfrm>
          <a:custGeom>
            <a:avLst/>
            <a:gdLst/>
            <a:ahLst/>
            <a:cxnLst/>
            <a:rect l="l" t="t" r="r" b="b"/>
            <a:pathLst>
              <a:path w="5366025" h="4390384">
                <a:moveTo>
                  <a:pt x="5366025" y="0"/>
                </a:moveTo>
                <a:lnTo>
                  <a:pt x="0" y="0"/>
                </a:lnTo>
                <a:lnTo>
                  <a:pt x="0" y="4390384"/>
                </a:lnTo>
                <a:lnTo>
                  <a:pt x="5366025" y="4390384"/>
                </a:lnTo>
                <a:lnTo>
                  <a:pt x="536602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914766" y="7914278"/>
            <a:ext cx="16936602" cy="4745444"/>
          </a:xfrm>
          <a:custGeom>
            <a:avLst/>
            <a:gdLst/>
            <a:ahLst/>
            <a:cxnLst/>
            <a:rect l="l" t="t" r="r" b="b"/>
            <a:pathLst>
              <a:path w="16936602" h="4745444">
                <a:moveTo>
                  <a:pt x="0" y="0"/>
                </a:moveTo>
                <a:lnTo>
                  <a:pt x="16936602" y="0"/>
                </a:lnTo>
                <a:lnTo>
                  <a:pt x="16936602" y="4745444"/>
                </a:lnTo>
                <a:lnTo>
                  <a:pt x="0" y="47454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802037">
            <a:off x="14977490" y="5949256"/>
            <a:ext cx="6621020" cy="5417199"/>
          </a:xfrm>
          <a:custGeom>
            <a:avLst/>
            <a:gdLst/>
            <a:ahLst/>
            <a:cxnLst/>
            <a:rect l="l" t="t" r="r" b="b"/>
            <a:pathLst>
              <a:path w="6621020" h="5417199">
                <a:moveTo>
                  <a:pt x="0" y="0"/>
                </a:moveTo>
                <a:lnTo>
                  <a:pt x="6621020" y="0"/>
                </a:lnTo>
                <a:lnTo>
                  <a:pt x="6621020" y="5417198"/>
                </a:lnTo>
                <a:lnTo>
                  <a:pt x="0" y="54171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-12985570" y="-2263645"/>
            <a:ext cx="19111785" cy="5354906"/>
          </a:xfrm>
          <a:custGeom>
            <a:avLst/>
            <a:gdLst/>
            <a:ahLst/>
            <a:cxnLst/>
            <a:rect l="l" t="t" r="r" b="b"/>
            <a:pathLst>
              <a:path w="19111785" h="5354906">
                <a:moveTo>
                  <a:pt x="19111785" y="5354906"/>
                </a:moveTo>
                <a:lnTo>
                  <a:pt x="0" y="5354906"/>
                </a:lnTo>
                <a:lnTo>
                  <a:pt x="0" y="0"/>
                </a:lnTo>
                <a:lnTo>
                  <a:pt x="19111785" y="0"/>
                </a:lnTo>
                <a:lnTo>
                  <a:pt x="19111785" y="535490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334287" y="1684066"/>
            <a:ext cx="11619426" cy="1696267"/>
          </a:xfrm>
          <a:custGeom>
            <a:avLst/>
            <a:gdLst/>
            <a:ahLst/>
            <a:cxnLst/>
            <a:rect l="l" t="t" r="r" b="b"/>
            <a:pathLst>
              <a:path w="11619426" h="1696267">
                <a:moveTo>
                  <a:pt x="0" y="0"/>
                </a:moveTo>
                <a:lnTo>
                  <a:pt x="11619426" y="0"/>
                </a:lnTo>
                <a:lnTo>
                  <a:pt x="11619426" y="1696267"/>
                </a:lnTo>
                <a:lnTo>
                  <a:pt x="0" y="169626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TextBox 9"/>
          <p:cNvSpPr txBox="1"/>
          <p:nvPr/>
        </p:nvSpPr>
        <p:spPr>
          <a:xfrm>
            <a:off x="5215201" y="1858359"/>
            <a:ext cx="8504681" cy="1232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  <a:spcBef>
                <a:spcPct val="0"/>
              </a:spcBef>
            </a:pPr>
            <a:r>
              <a:rPr lang="fa-IR" sz="8000" dirty="0">
                <a:solidFill>
                  <a:schemeClr val="bg1"/>
                </a:solidFill>
              </a:rPr>
              <a:t>معرفی داده‌ها</a:t>
            </a:r>
            <a:endParaRPr lang="en-US" sz="7354" b="1" dirty="0">
              <a:solidFill>
                <a:schemeClr val="bg1"/>
              </a:solidFill>
              <a:latin typeface="Gill Sans Bold"/>
              <a:ea typeface="Gill Sans Bold"/>
              <a:cs typeface="Gill Sans Bold"/>
              <a:sym typeface="Gill Sans 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D5DF64-2C28-98A3-7775-A3B65FC4F1DA}"/>
              </a:ext>
            </a:extLst>
          </p:cNvPr>
          <p:cNvSpPr txBox="1"/>
          <p:nvPr/>
        </p:nvSpPr>
        <p:spPr>
          <a:xfrm>
            <a:off x="4572120" y="3908368"/>
            <a:ext cx="1041837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fa-IR" sz="4400" dirty="0">
                <a:cs typeface="B Nazanin" panose="00000400000000000000" pitchFamily="2" charset="-78"/>
              </a:rPr>
              <a:t>هر نمونه داده مورد استفاده شامل:</a:t>
            </a:r>
          </a:p>
          <a:p>
            <a:pPr marL="571500" indent="-571500" algn="just" rtl="1">
              <a:buFont typeface="Arial" panose="020B0604020202020204" pitchFamily="34" charset="0"/>
              <a:buChar char="•"/>
            </a:pPr>
            <a:r>
              <a:rPr lang="fa-IR" sz="4400" dirty="0">
                <a:cs typeface="B Nazanin" panose="00000400000000000000" pitchFamily="2" charset="-78"/>
              </a:rPr>
              <a:t>یک درخواست تولید متن</a:t>
            </a:r>
            <a:endParaRPr lang="en-US" sz="4400" dirty="0">
              <a:cs typeface="B Nazanin" panose="00000400000000000000" pitchFamily="2" charset="-78"/>
            </a:endParaRPr>
          </a:p>
          <a:p>
            <a:pPr marL="571500" indent="-571500" algn="just" rtl="1">
              <a:buFont typeface="Arial" panose="020B0604020202020204" pitchFamily="34" charset="0"/>
              <a:buChar char="•"/>
            </a:pPr>
            <a:r>
              <a:rPr lang="fa-IR" sz="4400" dirty="0">
                <a:cs typeface="B Nazanin" panose="00000400000000000000" pitchFamily="2" charset="-78"/>
              </a:rPr>
              <a:t>یک متن مرجع</a:t>
            </a:r>
            <a:endParaRPr lang="en-US" sz="4400" dirty="0">
              <a:cs typeface="B Nazanin" panose="00000400000000000000" pitchFamily="2" charset="-78"/>
            </a:endParaRPr>
          </a:p>
          <a:p>
            <a:pPr marL="571500" indent="-571500" algn="just" rtl="1">
              <a:buFont typeface="Arial" panose="020B0604020202020204" pitchFamily="34" charset="0"/>
              <a:buChar char="•"/>
            </a:pPr>
            <a:r>
              <a:rPr lang="fa-IR" sz="4400" dirty="0">
                <a:cs typeface="B Nazanin" panose="00000400000000000000" pitchFamily="2" charset="-78"/>
              </a:rPr>
              <a:t>یک مقدار </a:t>
            </a:r>
            <a:r>
              <a:rPr lang="en-US" sz="4400" dirty="0">
                <a:cs typeface="B Nazanin" panose="00000400000000000000" pitchFamily="2" charset="-78"/>
              </a:rPr>
              <a:t> reward </a:t>
            </a:r>
            <a:r>
              <a:rPr lang="fa-IR" sz="4400" dirty="0">
                <a:cs typeface="B Nazanin" panose="00000400000000000000" pitchFamily="2" charset="-78"/>
              </a:rPr>
              <a:t>مبتنی بر تعامل (لایک و ریتوییت)</a:t>
            </a:r>
          </a:p>
          <a:p>
            <a:pPr algn="just" rtl="1"/>
            <a:endParaRPr lang="en-US" sz="4400" dirty="0">
              <a:cs typeface="B Nazanin" panose="00000400000000000000" pitchFamily="2" charset="-78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895" t="-29019" b="-3514"/>
            </a:stretch>
          </a:blipFill>
        </p:spPr>
      </p:sp>
      <p:sp>
        <p:nvSpPr>
          <p:cNvPr id="3" name="Freeform 3"/>
          <p:cNvSpPr/>
          <p:nvPr/>
        </p:nvSpPr>
        <p:spPr>
          <a:xfrm rot="-642096" flipH="1">
            <a:off x="-2470983" y="2094098"/>
            <a:ext cx="4603724" cy="3766684"/>
          </a:xfrm>
          <a:custGeom>
            <a:avLst/>
            <a:gdLst/>
            <a:ahLst/>
            <a:cxnLst/>
            <a:rect l="l" t="t" r="r" b="b"/>
            <a:pathLst>
              <a:path w="4603724" h="3766684">
                <a:moveTo>
                  <a:pt x="4603725" y="0"/>
                </a:moveTo>
                <a:lnTo>
                  <a:pt x="0" y="0"/>
                </a:lnTo>
                <a:lnTo>
                  <a:pt x="0" y="3766683"/>
                </a:lnTo>
                <a:lnTo>
                  <a:pt x="4603725" y="3766683"/>
                </a:lnTo>
                <a:lnTo>
                  <a:pt x="460372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416096" y="7643527"/>
            <a:ext cx="16936602" cy="4745444"/>
          </a:xfrm>
          <a:custGeom>
            <a:avLst/>
            <a:gdLst/>
            <a:ahLst/>
            <a:cxnLst/>
            <a:rect l="l" t="t" r="r" b="b"/>
            <a:pathLst>
              <a:path w="16936602" h="4745444">
                <a:moveTo>
                  <a:pt x="0" y="0"/>
                </a:moveTo>
                <a:lnTo>
                  <a:pt x="16936602" y="0"/>
                </a:lnTo>
                <a:lnTo>
                  <a:pt x="16936602" y="4745444"/>
                </a:lnTo>
                <a:lnTo>
                  <a:pt x="0" y="47454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802037">
            <a:off x="14977490" y="4375867"/>
            <a:ext cx="6621020" cy="5417199"/>
          </a:xfrm>
          <a:custGeom>
            <a:avLst/>
            <a:gdLst/>
            <a:ahLst/>
            <a:cxnLst/>
            <a:rect l="l" t="t" r="r" b="b"/>
            <a:pathLst>
              <a:path w="6621020" h="5417199">
                <a:moveTo>
                  <a:pt x="0" y="0"/>
                </a:moveTo>
                <a:lnTo>
                  <a:pt x="6621020" y="0"/>
                </a:lnTo>
                <a:lnTo>
                  <a:pt x="6621020" y="5417198"/>
                </a:lnTo>
                <a:lnTo>
                  <a:pt x="0" y="54171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-12985570" y="-2263645"/>
            <a:ext cx="19111785" cy="5354906"/>
          </a:xfrm>
          <a:custGeom>
            <a:avLst/>
            <a:gdLst/>
            <a:ahLst/>
            <a:cxnLst/>
            <a:rect l="l" t="t" r="r" b="b"/>
            <a:pathLst>
              <a:path w="19111785" h="5354906">
                <a:moveTo>
                  <a:pt x="19111785" y="5354906"/>
                </a:moveTo>
                <a:lnTo>
                  <a:pt x="0" y="5354906"/>
                </a:lnTo>
                <a:lnTo>
                  <a:pt x="0" y="0"/>
                </a:lnTo>
                <a:lnTo>
                  <a:pt x="19111785" y="0"/>
                </a:lnTo>
                <a:lnTo>
                  <a:pt x="19111785" y="535490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334287" y="1684066"/>
            <a:ext cx="11619426" cy="1696267"/>
          </a:xfrm>
          <a:custGeom>
            <a:avLst/>
            <a:gdLst/>
            <a:ahLst/>
            <a:cxnLst/>
            <a:rect l="l" t="t" r="r" b="b"/>
            <a:pathLst>
              <a:path w="11619426" h="1696267">
                <a:moveTo>
                  <a:pt x="0" y="0"/>
                </a:moveTo>
                <a:lnTo>
                  <a:pt x="11619426" y="0"/>
                </a:lnTo>
                <a:lnTo>
                  <a:pt x="11619426" y="1696267"/>
                </a:lnTo>
                <a:lnTo>
                  <a:pt x="0" y="169626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585224" y="1696913"/>
            <a:ext cx="6802103" cy="1207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0296"/>
              </a:lnSpc>
              <a:spcBef>
                <a:spcPct val="0"/>
              </a:spcBef>
            </a:pPr>
            <a:r>
              <a:rPr lang="fa-IR" sz="6000" dirty="0">
                <a:solidFill>
                  <a:schemeClr val="bg1"/>
                </a:solidFill>
              </a:rPr>
              <a:t>مدل پایه </a:t>
            </a:r>
            <a:r>
              <a:rPr lang="en-US" sz="6000" dirty="0">
                <a:solidFill>
                  <a:schemeClr val="bg1"/>
                </a:solidFill>
              </a:rPr>
              <a:t>SFT</a:t>
            </a:r>
            <a:r>
              <a:rPr lang="fa-IR" sz="6000" dirty="0">
                <a:solidFill>
                  <a:schemeClr val="bg1"/>
                </a:solidFill>
              </a:rPr>
              <a:t> با داده خام</a:t>
            </a:r>
            <a:endParaRPr lang="en-US" sz="6000" b="1" dirty="0">
              <a:solidFill>
                <a:schemeClr val="bg1"/>
              </a:solidFill>
              <a:latin typeface="Gill Sans Bold"/>
              <a:ea typeface="Gill Sans Bold"/>
              <a:cs typeface="Gill Sans Bold"/>
              <a:sym typeface="Gill Sans 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D8B681-CCBB-FEC3-1AEC-64CD0C9E396A}"/>
              </a:ext>
            </a:extLst>
          </p:cNvPr>
          <p:cNvSpPr txBox="1"/>
          <p:nvPr/>
        </p:nvSpPr>
        <p:spPr>
          <a:xfrm>
            <a:off x="4114800" y="4000500"/>
            <a:ext cx="10439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dirty="0">
                <a:cs typeface="B Nazanin" panose="00000400000000000000" pitchFamily="2" charset="-78"/>
              </a:rPr>
              <a:t>در مرحله اول، از </a:t>
            </a:r>
            <a:r>
              <a:rPr lang="en-US" sz="3600" dirty="0">
                <a:cs typeface="B Nazanin" panose="00000400000000000000" pitchFamily="2" charset="-78"/>
              </a:rPr>
              <a:t> </a:t>
            </a:r>
            <a:r>
              <a:rPr lang="en-US" sz="3600" b="1" dirty="0">
                <a:cs typeface="B Nazanin" panose="00000400000000000000" pitchFamily="2" charset="-78"/>
              </a:rPr>
              <a:t>Supervised Fine-Tuning (SFT)</a:t>
            </a:r>
            <a:r>
              <a:rPr lang="en-US" sz="3600" dirty="0">
                <a:cs typeface="B Nazanin" panose="00000400000000000000" pitchFamily="2" charset="-78"/>
              </a:rPr>
              <a:t> </a:t>
            </a:r>
            <a:r>
              <a:rPr lang="fa-IR" sz="3600" dirty="0">
                <a:cs typeface="B Nazanin" panose="00000400000000000000" pitchFamily="2" charset="-78"/>
              </a:rPr>
              <a:t>استفاده شد.</a:t>
            </a:r>
          </a:p>
          <a:p>
            <a:pPr algn="r" rtl="1"/>
            <a:r>
              <a:rPr lang="fa-IR" sz="3600" dirty="0">
                <a:cs typeface="B Nazanin" panose="00000400000000000000" pitchFamily="2" charset="-78"/>
              </a:rPr>
              <a:t>در این روش: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fa-IR" sz="3600" dirty="0">
                <a:cs typeface="B Nazanin" panose="00000400000000000000" pitchFamily="2" charset="-78"/>
              </a:rPr>
              <a:t>مدل با داده خام آموزش می‌بیند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fa-IR" sz="3600" dirty="0">
                <a:cs typeface="B Nazanin" panose="00000400000000000000" pitchFamily="2" charset="-78"/>
              </a:rPr>
              <a:t>هدف، تقلید مستقیم از خروجی‌های مرجع است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fa-IR" sz="3600" dirty="0">
                <a:cs typeface="B Nazanin" panose="00000400000000000000" pitchFamily="2" charset="-78"/>
              </a:rPr>
              <a:t>این مدل به‌عنوان </a:t>
            </a:r>
            <a:r>
              <a:rPr lang="en-US" sz="3600" b="1" dirty="0">
                <a:cs typeface="B Nazanin" panose="00000400000000000000" pitchFamily="2" charset="-78"/>
              </a:rPr>
              <a:t>baseline</a:t>
            </a:r>
            <a:r>
              <a:rPr lang="en-US" sz="3600" dirty="0">
                <a:cs typeface="B Nazanin" panose="00000400000000000000" pitchFamily="2" charset="-78"/>
              </a:rPr>
              <a:t> </a:t>
            </a:r>
            <a:r>
              <a:rPr lang="fa-IR" sz="3600" dirty="0">
                <a:cs typeface="B Nazanin" panose="00000400000000000000" pitchFamily="2" charset="-78"/>
              </a:rPr>
              <a:t> در نظر گرفته شد.</a:t>
            </a:r>
          </a:p>
          <a:p>
            <a:pPr algn="r" rtl="1"/>
            <a:endParaRPr lang="en-US" sz="3600" dirty="0">
              <a:cs typeface="B Nazanin" panose="00000400000000000000" pitchFamily="2" charset="-78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895" t="-29019" b="-3514"/>
            </a:stretch>
          </a:blipFill>
        </p:spPr>
      </p:sp>
      <p:sp>
        <p:nvSpPr>
          <p:cNvPr id="3" name="Freeform 3"/>
          <p:cNvSpPr/>
          <p:nvPr/>
        </p:nvSpPr>
        <p:spPr>
          <a:xfrm rot="-4174148" flipH="1">
            <a:off x="-1016439" y="7327751"/>
            <a:ext cx="3424109" cy="2801544"/>
          </a:xfrm>
          <a:custGeom>
            <a:avLst/>
            <a:gdLst/>
            <a:ahLst/>
            <a:cxnLst/>
            <a:rect l="l" t="t" r="r" b="b"/>
            <a:pathLst>
              <a:path w="3424109" h="2801544">
                <a:moveTo>
                  <a:pt x="3424109" y="0"/>
                </a:moveTo>
                <a:lnTo>
                  <a:pt x="0" y="0"/>
                </a:lnTo>
                <a:lnTo>
                  <a:pt x="0" y="2801543"/>
                </a:lnTo>
                <a:lnTo>
                  <a:pt x="3424109" y="2801543"/>
                </a:lnTo>
                <a:lnTo>
                  <a:pt x="342410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565799" y="8302504"/>
            <a:ext cx="12878442" cy="3608394"/>
          </a:xfrm>
          <a:custGeom>
            <a:avLst/>
            <a:gdLst/>
            <a:ahLst/>
            <a:cxnLst/>
            <a:rect l="l" t="t" r="r" b="b"/>
            <a:pathLst>
              <a:path w="12878442" h="3608394">
                <a:moveTo>
                  <a:pt x="0" y="0"/>
                </a:moveTo>
                <a:lnTo>
                  <a:pt x="12878441" y="0"/>
                </a:lnTo>
                <a:lnTo>
                  <a:pt x="12878441" y="3608394"/>
                </a:lnTo>
                <a:lnTo>
                  <a:pt x="0" y="36083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805285">
            <a:off x="16172707" y="7272"/>
            <a:ext cx="5564319" cy="4552624"/>
          </a:xfrm>
          <a:custGeom>
            <a:avLst/>
            <a:gdLst/>
            <a:ahLst/>
            <a:cxnLst/>
            <a:rect l="l" t="t" r="r" b="b"/>
            <a:pathLst>
              <a:path w="5564319" h="4552624">
                <a:moveTo>
                  <a:pt x="0" y="0"/>
                </a:moveTo>
                <a:lnTo>
                  <a:pt x="5564319" y="0"/>
                </a:lnTo>
                <a:lnTo>
                  <a:pt x="5564319" y="4552624"/>
                </a:lnTo>
                <a:lnTo>
                  <a:pt x="0" y="45526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7669717" y="-1368884"/>
            <a:ext cx="11317876" cy="3171141"/>
          </a:xfrm>
          <a:custGeom>
            <a:avLst/>
            <a:gdLst/>
            <a:ahLst/>
            <a:cxnLst/>
            <a:rect l="l" t="t" r="r" b="b"/>
            <a:pathLst>
              <a:path w="11317876" h="3171141">
                <a:moveTo>
                  <a:pt x="11317876" y="3171140"/>
                </a:moveTo>
                <a:lnTo>
                  <a:pt x="0" y="3171140"/>
                </a:lnTo>
                <a:lnTo>
                  <a:pt x="0" y="0"/>
                </a:lnTo>
                <a:lnTo>
                  <a:pt x="11317876" y="0"/>
                </a:lnTo>
                <a:lnTo>
                  <a:pt x="11317876" y="317114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159429" y="2402331"/>
            <a:ext cx="11619426" cy="1696267"/>
          </a:xfrm>
          <a:custGeom>
            <a:avLst/>
            <a:gdLst/>
            <a:ahLst/>
            <a:cxnLst/>
            <a:rect l="l" t="t" r="r" b="b"/>
            <a:pathLst>
              <a:path w="11619426" h="1696267">
                <a:moveTo>
                  <a:pt x="0" y="0"/>
                </a:moveTo>
                <a:lnTo>
                  <a:pt x="11619425" y="0"/>
                </a:lnTo>
                <a:lnTo>
                  <a:pt x="11619425" y="1696267"/>
                </a:lnTo>
                <a:lnTo>
                  <a:pt x="0" y="16962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711650" y="2519995"/>
            <a:ext cx="9606460" cy="120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  <a:spcBef>
                <a:spcPct val="0"/>
              </a:spcBef>
            </a:pPr>
            <a:r>
              <a:rPr lang="fa-IR" sz="6600" dirty="0">
                <a:solidFill>
                  <a:schemeClr val="bg1"/>
                </a:solidFill>
              </a:rPr>
              <a:t>محدودیت‌های آموزش با داده خام</a:t>
            </a:r>
            <a:endParaRPr lang="en-US" sz="6600" b="1" dirty="0">
              <a:solidFill>
                <a:schemeClr val="bg1"/>
              </a:solidFill>
              <a:latin typeface="Gill Sans Bold"/>
              <a:ea typeface="Gill Sans Bold"/>
              <a:cs typeface="Gill Sans Bold"/>
              <a:sym typeface="Gill Sa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159428" y="4136698"/>
            <a:ext cx="11619425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/>
            <a:r>
              <a:rPr lang="fa-IR" sz="3600" dirty="0">
                <a:cs typeface="B Nazanin" panose="00000400000000000000" pitchFamily="2" charset="-78"/>
              </a:rPr>
              <a:t>نتایج مدل </a:t>
            </a:r>
            <a:r>
              <a:rPr lang="en-US" sz="3600" dirty="0">
                <a:cs typeface="B Nazanin" panose="00000400000000000000" pitchFamily="2" charset="-78"/>
              </a:rPr>
              <a:t> SFT </a:t>
            </a:r>
            <a:r>
              <a:rPr lang="fa-IR" sz="3600" dirty="0">
                <a:cs typeface="B Nazanin" panose="00000400000000000000" pitchFamily="2" charset="-78"/>
              </a:rPr>
              <a:t>با داده خام نشان داد:</a:t>
            </a:r>
          </a:p>
          <a:p>
            <a:pPr marL="914400" lvl="1" indent="-457200" algn="r" rtl="1">
              <a:buFont typeface="Arial" panose="020B0604020202020204" pitchFamily="34" charset="0"/>
              <a:buChar char="•"/>
            </a:pPr>
            <a:r>
              <a:rPr lang="fa-IR" sz="3600" dirty="0">
                <a:cs typeface="B Nazanin" panose="00000400000000000000" pitchFamily="2" charset="-78"/>
              </a:rPr>
              <a:t>تولید متن‌های پر از هشتگ بی‌ربط</a:t>
            </a:r>
          </a:p>
          <a:p>
            <a:pPr marL="914400" lvl="1" indent="-457200" algn="r" rtl="1">
              <a:buFont typeface="Arial" panose="020B0604020202020204" pitchFamily="34" charset="0"/>
              <a:buChar char="•"/>
            </a:pPr>
            <a:r>
              <a:rPr lang="fa-IR" sz="3600" dirty="0">
                <a:cs typeface="B Nazanin" panose="00000400000000000000" pitchFamily="2" charset="-78"/>
              </a:rPr>
              <a:t>تکرار الگوهای سطحی</a:t>
            </a:r>
          </a:p>
          <a:p>
            <a:pPr marL="914400" lvl="1" indent="-457200" algn="r" rtl="1">
              <a:buFont typeface="Arial" panose="020B0604020202020204" pitchFamily="34" charset="0"/>
              <a:buChar char="•"/>
            </a:pPr>
            <a:r>
              <a:rPr lang="fa-IR" sz="3600" dirty="0">
                <a:cs typeface="B Nazanin" panose="00000400000000000000" pitchFamily="2" charset="-78"/>
              </a:rPr>
              <a:t>کاهش انسجام معنایی</a:t>
            </a:r>
          </a:p>
          <a:p>
            <a:pPr marL="914400" lvl="1" indent="-457200" algn="r" rtl="1">
              <a:buFont typeface="Arial" panose="020B0604020202020204" pitchFamily="34" charset="0"/>
              <a:buChar char="•"/>
            </a:pPr>
            <a:r>
              <a:rPr lang="fa-IR" sz="3600" dirty="0">
                <a:cs typeface="B Nazanin" panose="00000400000000000000" pitchFamily="2" charset="-78"/>
              </a:rPr>
              <a:t>در واقع، مدل بیشتر «داده را حفظ می‌کرد» تا اینکه «یاد بگیرد».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895" t="-29019" b="-3514"/>
            </a:stretch>
          </a:blipFill>
        </p:spPr>
      </p:sp>
      <p:sp>
        <p:nvSpPr>
          <p:cNvPr id="3" name="Freeform 3"/>
          <p:cNvSpPr/>
          <p:nvPr/>
        </p:nvSpPr>
        <p:spPr>
          <a:xfrm rot="4009528" flipH="1">
            <a:off x="12831350" y="-2299004"/>
            <a:ext cx="6095192" cy="4986975"/>
          </a:xfrm>
          <a:custGeom>
            <a:avLst/>
            <a:gdLst/>
            <a:ahLst/>
            <a:cxnLst/>
            <a:rect l="l" t="t" r="r" b="b"/>
            <a:pathLst>
              <a:path w="6095192" h="4986975">
                <a:moveTo>
                  <a:pt x="6095192" y="0"/>
                </a:moveTo>
                <a:lnTo>
                  <a:pt x="0" y="0"/>
                </a:lnTo>
                <a:lnTo>
                  <a:pt x="0" y="4986975"/>
                </a:lnTo>
                <a:lnTo>
                  <a:pt x="6095192" y="4986975"/>
                </a:lnTo>
                <a:lnTo>
                  <a:pt x="609519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986275" y="7265643"/>
            <a:ext cx="19909173" cy="5578325"/>
          </a:xfrm>
          <a:custGeom>
            <a:avLst/>
            <a:gdLst/>
            <a:ahLst/>
            <a:cxnLst/>
            <a:rect l="l" t="t" r="r" b="b"/>
            <a:pathLst>
              <a:path w="19909173" h="5578325">
                <a:moveTo>
                  <a:pt x="0" y="0"/>
                </a:moveTo>
                <a:lnTo>
                  <a:pt x="19909174" y="0"/>
                </a:lnTo>
                <a:lnTo>
                  <a:pt x="19909174" y="5578325"/>
                </a:lnTo>
                <a:lnTo>
                  <a:pt x="0" y="55783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2379029">
            <a:off x="-868078" y="8635217"/>
            <a:ext cx="6621020" cy="5417199"/>
          </a:xfrm>
          <a:custGeom>
            <a:avLst/>
            <a:gdLst/>
            <a:ahLst/>
            <a:cxnLst/>
            <a:rect l="l" t="t" r="r" b="b"/>
            <a:pathLst>
              <a:path w="6621020" h="5417199">
                <a:moveTo>
                  <a:pt x="0" y="0"/>
                </a:moveTo>
                <a:lnTo>
                  <a:pt x="6621020" y="0"/>
                </a:lnTo>
                <a:lnTo>
                  <a:pt x="6621020" y="5417198"/>
                </a:lnTo>
                <a:lnTo>
                  <a:pt x="0" y="54171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-12985570" y="-2263645"/>
            <a:ext cx="19111785" cy="5354906"/>
          </a:xfrm>
          <a:custGeom>
            <a:avLst/>
            <a:gdLst/>
            <a:ahLst/>
            <a:cxnLst/>
            <a:rect l="l" t="t" r="r" b="b"/>
            <a:pathLst>
              <a:path w="19111785" h="5354906">
                <a:moveTo>
                  <a:pt x="19111785" y="5354906"/>
                </a:moveTo>
                <a:lnTo>
                  <a:pt x="0" y="5354906"/>
                </a:lnTo>
                <a:lnTo>
                  <a:pt x="0" y="0"/>
                </a:lnTo>
                <a:lnTo>
                  <a:pt x="19111785" y="0"/>
                </a:lnTo>
                <a:lnTo>
                  <a:pt x="19111785" y="535490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176562" y="2402331"/>
            <a:ext cx="11619426" cy="1696267"/>
          </a:xfrm>
          <a:custGeom>
            <a:avLst/>
            <a:gdLst/>
            <a:ahLst/>
            <a:cxnLst/>
            <a:rect l="l" t="t" r="r" b="b"/>
            <a:pathLst>
              <a:path w="11619426" h="1696267">
                <a:moveTo>
                  <a:pt x="0" y="0"/>
                </a:moveTo>
                <a:lnTo>
                  <a:pt x="11619426" y="0"/>
                </a:lnTo>
                <a:lnTo>
                  <a:pt x="11619426" y="1696267"/>
                </a:lnTo>
                <a:lnTo>
                  <a:pt x="0" y="169626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33400" y="4524255"/>
            <a:ext cx="16002000" cy="3877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/>
            <a:r>
              <a:rPr lang="fa-IR" sz="3600" dirty="0">
                <a:cs typeface="B Nazanin" panose="00000400000000000000" pitchFamily="2" charset="-78"/>
              </a:rPr>
              <a:t>برای بهبود کیفیت، داده‌ها با استفاده از خروجی مدل و معیار پاداش فیلتر شدند.</a:t>
            </a:r>
          </a:p>
          <a:p>
            <a:pPr algn="r" rtl="1"/>
            <a:r>
              <a:rPr lang="fa-IR" sz="3600" dirty="0">
                <a:cs typeface="B Nazanin" panose="00000400000000000000" pitchFamily="2" charset="-78"/>
              </a:rPr>
              <a:t>استراتژی فیلتر:</a:t>
            </a: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r>
              <a:rPr lang="fa-IR" sz="3600" dirty="0">
                <a:cs typeface="B Nazanin" panose="00000400000000000000" pitchFamily="2" charset="-78"/>
              </a:rPr>
              <a:t>حذف نمونه‌های با </a:t>
            </a:r>
            <a:r>
              <a:rPr lang="en-US" sz="3600" dirty="0">
                <a:cs typeface="B Nazanin" panose="00000400000000000000" pitchFamily="2" charset="-78"/>
              </a:rPr>
              <a:t>reward</a:t>
            </a:r>
            <a:r>
              <a:rPr lang="fa-IR" sz="3600" dirty="0">
                <a:cs typeface="B Nazanin" panose="00000400000000000000" pitchFamily="2" charset="-78"/>
              </a:rPr>
              <a:t> پایین</a:t>
            </a: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r>
              <a:rPr lang="fa-IR" sz="3600" dirty="0">
                <a:cs typeface="B Nazanin" panose="00000400000000000000" pitchFamily="2" charset="-78"/>
              </a:rPr>
              <a:t>حذف نمونه‌های بی‌ربط به موضوع</a:t>
            </a: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r>
              <a:rPr lang="fa-IR" sz="3600" dirty="0">
                <a:cs typeface="B Nazanin" panose="00000400000000000000" pitchFamily="2" charset="-78"/>
              </a:rPr>
              <a:t>تمرکز روی داده‌های با سیگنال قوی‌تر</a:t>
            </a:r>
          </a:p>
          <a:p>
            <a:pPr lvl="1" algn="r" rtl="1"/>
            <a:r>
              <a:rPr lang="fa-IR" sz="3600" dirty="0">
                <a:cs typeface="B Nazanin" panose="00000400000000000000" pitchFamily="2" charset="-78"/>
              </a:rPr>
              <a:t>هدف این مرحله:</a:t>
            </a:r>
          </a:p>
          <a:p>
            <a:pPr algn="r" rtl="1"/>
            <a:r>
              <a:rPr lang="en-US" sz="3600" dirty="0">
                <a:cs typeface="B Nazanin" panose="00000400000000000000" pitchFamily="2" charset="-78"/>
              </a:rPr>
              <a:t>	</a:t>
            </a:r>
            <a:r>
              <a:rPr lang="fa-IR" sz="3600" dirty="0">
                <a:cs typeface="B Nazanin" panose="00000400000000000000" pitchFamily="2" charset="-78"/>
              </a:rPr>
              <a:t>افزایش کیفیت داده به جای افزایش حجم داده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26761" y="2596991"/>
            <a:ext cx="8719027" cy="1232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96"/>
              </a:lnSpc>
              <a:spcBef>
                <a:spcPct val="0"/>
              </a:spcBef>
            </a:pPr>
            <a:r>
              <a:rPr lang="fa-IR" sz="8000" dirty="0">
                <a:solidFill>
                  <a:schemeClr val="bg1"/>
                </a:solidFill>
              </a:rPr>
              <a:t>فیلتر کردن داده‌ها</a:t>
            </a:r>
            <a:endParaRPr lang="en-US" sz="7354" b="1" dirty="0">
              <a:solidFill>
                <a:schemeClr val="bg1"/>
              </a:solidFill>
              <a:latin typeface="Gill Sans Bold"/>
              <a:ea typeface="Gill Sans Bold"/>
              <a:cs typeface="Gill Sans Bold"/>
              <a:sym typeface="Gill Sans 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895" t="-29019" b="-3514"/>
            </a:stretch>
          </a:blipFill>
        </p:spPr>
      </p:sp>
      <p:sp>
        <p:nvSpPr>
          <p:cNvPr id="3" name="Freeform 3"/>
          <p:cNvSpPr/>
          <p:nvPr/>
        </p:nvSpPr>
        <p:spPr>
          <a:xfrm rot="-642096" flipH="1">
            <a:off x="-2470983" y="2094098"/>
            <a:ext cx="4603724" cy="3766684"/>
          </a:xfrm>
          <a:custGeom>
            <a:avLst/>
            <a:gdLst/>
            <a:ahLst/>
            <a:cxnLst/>
            <a:rect l="l" t="t" r="r" b="b"/>
            <a:pathLst>
              <a:path w="4603724" h="3766684">
                <a:moveTo>
                  <a:pt x="4603725" y="0"/>
                </a:moveTo>
                <a:lnTo>
                  <a:pt x="0" y="0"/>
                </a:lnTo>
                <a:lnTo>
                  <a:pt x="0" y="3766683"/>
                </a:lnTo>
                <a:lnTo>
                  <a:pt x="4603725" y="3766683"/>
                </a:lnTo>
                <a:lnTo>
                  <a:pt x="460372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416096" y="7643527"/>
            <a:ext cx="16936602" cy="4745444"/>
          </a:xfrm>
          <a:custGeom>
            <a:avLst/>
            <a:gdLst/>
            <a:ahLst/>
            <a:cxnLst/>
            <a:rect l="l" t="t" r="r" b="b"/>
            <a:pathLst>
              <a:path w="16936602" h="4745444">
                <a:moveTo>
                  <a:pt x="0" y="0"/>
                </a:moveTo>
                <a:lnTo>
                  <a:pt x="16936602" y="0"/>
                </a:lnTo>
                <a:lnTo>
                  <a:pt x="16936602" y="4745444"/>
                </a:lnTo>
                <a:lnTo>
                  <a:pt x="0" y="47454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802037">
            <a:off x="14977490" y="4375867"/>
            <a:ext cx="6621020" cy="5417199"/>
          </a:xfrm>
          <a:custGeom>
            <a:avLst/>
            <a:gdLst/>
            <a:ahLst/>
            <a:cxnLst/>
            <a:rect l="l" t="t" r="r" b="b"/>
            <a:pathLst>
              <a:path w="6621020" h="5417199">
                <a:moveTo>
                  <a:pt x="0" y="0"/>
                </a:moveTo>
                <a:lnTo>
                  <a:pt x="6621020" y="0"/>
                </a:lnTo>
                <a:lnTo>
                  <a:pt x="6621020" y="5417198"/>
                </a:lnTo>
                <a:lnTo>
                  <a:pt x="0" y="54171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-12985570" y="-2263645"/>
            <a:ext cx="19111785" cy="5354906"/>
          </a:xfrm>
          <a:custGeom>
            <a:avLst/>
            <a:gdLst/>
            <a:ahLst/>
            <a:cxnLst/>
            <a:rect l="l" t="t" r="r" b="b"/>
            <a:pathLst>
              <a:path w="19111785" h="5354906">
                <a:moveTo>
                  <a:pt x="19111785" y="5354906"/>
                </a:moveTo>
                <a:lnTo>
                  <a:pt x="0" y="5354906"/>
                </a:lnTo>
                <a:lnTo>
                  <a:pt x="0" y="0"/>
                </a:lnTo>
                <a:lnTo>
                  <a:pt x="19111785" y="0"/>
                </a:lnTo>
                <a:lnTo>
                  <a:pt x="19111785" y="535490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334287" y="1684066"/>
            <a:ext cx="11619426" cy="1696267"/>
          </a:xfrm>
          <a:custGeom>
            <a:avLst/>
            <a:gdLst/>
            <a:ahLst/>
            <a:cxnLst/>
            <a:rect l="l" t="t" r="r" b="b"/>
            <a:pathLst>
              <a:path w="11619426" h="1696267">
                <a:moveTo>
                  <a:pt x="0" y="0"/>
                </a:moveTo>
                <a:lnTo>
                  <a:pt x="11619426" y="0"/>
                </a:lnTo>
                <a:lnTo>
                  <a:pt x="11619426" y="1696267"/>
                </a:lnTo>
                <a:lnTo>
                  <a:pt x="0" y="169626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6126215" y="1688251"/>
            <a:ext cx="6802103" cy="1148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0296"/>
              </a:lnSpc>
              <a:spcBef>
                <a:spcPct val="0"/>
              </a:spcBef>
            </a:pPr>
            <a:r>
              <a:rPr lang="fa-IR" sz="4800" dirty="0">
                <a:solidFill>
                  <a:schemeClr val="bg1"/>
                </a:solidFill>
              </a:rPr>
              <a:t>آموزش </a:t>
            </a:r>
            <a:r>
              <a:rPr lang="en-US" sz="4800" dirty="0">
                <a:solidFill>
                  <a:schemeClr val="bg1"/>
                </a:solidFill>
              </a:rPr>
              <a:t> SFT </a:t>
            </a:r>
            <a:r>
              <a:rPr lang="fa-IR" sz="4800" dirty="0">
                <a:solidFill>
                  <a:schemeClr val="bg1"/>
                </a:solidFill>
              </a:rPr>
              <a:t>با داده‌های فیلترشده</a:t>
            </a:r>
            <a:endParaRPr lang="en-US" sz="4800" b="1" dirty="0">
              <a:solidFill>
                <a:schemeClr val="bg1"/>
              </a:solidFill>
              <a:latin typeface="Gill Sans Bold"/>
              <a:ea typeface="Gill Sans Bold"/>
              <a:cs typeface="Gill Sans Bold"/>
              <a:sym typeface="Gill Sans 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A57AE9-276C-2D7B-213E-DCA068E2AF67}"/>
              </a:ext>
            </a:extLst>
          </p:cNvPr>
          <p:cNvSpPr txBox="1"/>
          <p:nvPr/>
        </p:nvSpPr>
        <p:spPr>
          <a:xfrm>
            <a:off x="3657600" y="4152900"/>
            <a:ext cx="11430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cs typeface="B Nazanin" panose="00000400000000000000" pitchFamily="2" charset="-78"/>
              </a:rPr>
              <a:t>پس از فیلتر، مدل دوباره با </a:t>
            </a:r>
            <a:r>
              <a:rPr lang="en-US" sz="4000" dirty="0">
                <a:cs typeface="B Nazanin" panose="00000400000000000000" pitchFamily="2" charset="-78"/>
              </a:rPr>
              <a:t> SFT </a:t>
            </a:r>
            <a:r>
              <a:rPr lang="fa-IR" sz="4000" dirty="0">
                <a:cs typeface="B Nazanin" panose="00000400000000000000" pitchFamily="2" charset="-78"/>
              </a:rPr>
              <a:t>آموزش داده شد.</a:t>
            </a:r>
          </a:p>
          <a:p>
            <a:pPr algn="r" rtl="1"/>
            <a:r>
              <a:rPr lang="fa-IR" sz="4000" dirty="0">
                <a:cs typeface="B Nazanin" panose="00000400000000000000" pitchFamily="2" charset="-78"/>
              </a:rPr>
              <a:t>نتایج این مرحله:</a:t>
            </a: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r>
              <a:rPr lang="fa-IR" sz="4000" dirty="0">
                <a:cs typeface="B Nazanin" panose="00000400000000000000" pitchFamily="2" charset="-78"/>
              </a:rPr>
              <a:t>کاهش نویز در خروجی</a:t>
            </a: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r>
              <a:rPr lang="fa-IR" sz="4000" dirty="0">
                <a:cs typeface="B Nazanin" panose="00000400000000000000" pitchFamily="2" charset="-78"/>
              </a:rPr>
              <a:t>انسجام معنایی بهتر</a:t>
            </a: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r>
              <a:rPr lang="fa-IR" sz="4000" dirty="0">
                <a:cs typeface="B Nazanin" panose="00000400000000000000" pitchFamily="2" charset="-78"/>
              </a:rPr>
              <a:t>تولید متن‌های مرتبط‌تر با </a:t>
            </a:r>
            <a:r>
              <a:rPr lang="en-US" sz="4000" dirty="0">
                <a:cs typeface="B Nazanin" panose="00000400000000000000" pitchFamily="2" charset="-78"/>
              </a:rPr>
              <a:t>prompt</a:t>
            </a: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r>
              <a:rPr lang="fa-IR" sz="4000" dirty="0">
                <a:cs typeface="B Nazanin" panose="00000400000000000000" pitchFamily="2" charset="-78"/>
              </a:rPr>
              <a:t>این مرحله نشان داد که </a:t>
            </a:r>
            <a:r>
              <a:rPr lang="fa-IR" sz="4000" b="1" dirty="0">
                <a:cs typeface="B Nazanin" panose="00000400000000000000" pitchFamily="2" charset="-78"/>
              </a:rPr>
              <a:t>کیفیت داده تأثیر مستقیمی بر کیفیت مدل دارد</a:t>
            </a:r>
            <a:r>
              <a:rPr lang="fa-IR" sz="4000" dirty="0">
                <a:cs typeface="B Nazanin" panose="00000400000000000000" pitchFamily="2" charset="-78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A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65FF7A-904D-E381-7EE5-C267FC67D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234C3CE-1A78-55C0-EF40-B30C47FA9E6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895" t="-29019" b="-3514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EEAE183-11F4-1CFA-BC07-0C5947B8A57A}"/>
              </a:ext>
            </a:extLst>
          </p:cNvPr>
          <p:cNvSpPr/>
          <p:nvPr/>
        </p:nvSpPr>
        <p:spPr>
          <a:xfrm rot="-642096" flipH="1">
            <a:off x="-2470983" y="2094098"/>
            <a:ext cx="4603724" cy="3766684"/>
          </a:xfrm>
          <a:custGeom>
            <a:avLst/>
            <a:gdLst/>
            <a:ahLst/>
            <a:cxnLst/>
            <a:rect l="l" t="t" r="r" b="b"/>
            <a:pathLst>
              <a:path w="4603724" h="3766684">
                <a:moveTo>
                  <a:pt x="4603725" y="0"/>
                </a:moveTo>
                <a:lnTo>
                  <a:pt x="0" y="0"/>
                </a:lnTo>
                <a:lnTo>
                  <a:pt x="0" y="3766683"/>
                </a:lnTo>
                <a:lnTo>
                  <a:pt x="4603725" y="3766683"/>
                </a:lnTo>
                <a:lnTo>
                  <a:pt x="460372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6F91814-6465-3B01-A1D7-E9BED393ABBA}"/>
              </a:ext>
            </a:extLst>
          </p:cNvPr>
          <p:cNvSpPr/>
          <p:nvPr/>
        </p:nvSpPr>
        <p:spPr>
          <a:xfrm>
            <a:off x="11416096" y="7643527"/>
            <a:ext cx="16936602" cy="4745444"/>
          </a:xfrm>
          <a:custGeom>
            <a:avLst/>
            <a:gdLst/>
            <a:ahLst/>
            <a:cxnLst/>
            <a:rect l="l" t="t" r="r" b="b"/>
            <a:pathLst>
              <a:path w="16936602" h="4745444">
                <a:moveTo>
                  <a:pt x="0" y="0"/>
                </a:moveTo>
                <a:lnTo>
                  <a:pt x="16936602" y="0"/>
                </a:lnTo>
                <a:lnTo>
                  <a:pt x="16936602" y="4745444"/>
                </a:lnTo>
                <a:lnTo>
                  <a:pt x="0" y="47454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863897D-31F3-9618-BB0A-3AEF88040325}"/>
              </a:ext>
            </a:extLst>
          </p:cNvPr>
          <p:cNvSpPr/>
          <p:nvPr/>
        </p:nvSpPr>
        <p:spPr>
          <a:xfrm rot="-1802037">
            <a:off x="14977490" y="4375867"/>
            <a:ext cx="6621020" cy="5417199"/>
          </a:xfrm>
          <a:custGeom>
            <a:avLst/>
            <a:gdLst/>
            <a:ahLst/>
            <a:cxnLst/>
            <a:rect l="l" t="t" r="r" b="b"/>
            <a:pathLst>
              <a:path w="6621020" h="5417199">
                <a:moveTo>
                  <a:pt x="0" y="0"/>
                </a:moveTo>
                <a:lnTo>
                  <a:pt x="6621020" y="0"/>
                </a:lnTo>
                <a:lnTo>
                  <a:pt x="6621020" y="5417198"/>
                </a:lnTo>
                <a:lnTo>
                  <a:pt x="0" y="54171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BCFAE0F2-66CB-86B2-0594-2978E7CE35D2}"/>
              </a:ext>
            </a:extLst>
          </p:cNvPr>
          <p:cNvSpPr/>
          <p:nvPr/>
        </p:nvSpPr>
        <p:spPr>
          <a:xfrm flipH="1" flipV="1">
            <a:off x="-12985570" y="-2263645"/>
            <a:ext cx="19111785" cy="5354906"/>
          </a:xfrm>
          <a:custGeom>
            <a:avLst/>
            <a:gdLst/>
            <a:ahLst/>
            <a:cxnLst/>
            <a:rect l="l" t="t" r="r" b="b"/>
            <a:pathLst>
              <a:path w="19111785" h="5354906">
                <a:moveTo>
                  <a:pt x="19111785" y="5354906"/>
                </a:moveTo>
                <a:lnTo>
                  <a:pt x="0" y="5354906"/>
                </a:lnTo>
                <a:lnTo>
                  <a:pt x="0" y="0"/>
                </a:lnTo>
                <a:lnTo>
                  <a:pt x="19111785" y="0"/>
                </a:lnTo>
                <a:lnTo>
                  <a:pt x="19111785" y="535490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0C53C032-21AB-8A7F-E064-F58913E8A72B}"/>
              </a:ext>
            </a:extLst>
          </p:cNvPr>
          <p:cNvSpPr/>
          <p:nvPr/>
        </p:nvSpPr>
        <p:spPr>
          <a:xfrm>
            <a:off x="3334287" y="1684066"/>
            <a:ext cx="11619426" cy="1696267"/>
          </a:xfrm>
          <a:custGeom>
            <a:avLst/>
            <a:gdLst/>
            <a:ahLst/>
            <a:cxnLst/>
            <a:rect l="l" t="t" r="r" b="b"/>
            <a:pathLst>
              <a:path w="11619426" h="1696267">
                <a:moveTo>
                  <a:pt x="0" y="0"/>
                </a:moveTo>
                <a:lnTo>
                  <a:pt x="11619426" y="0"/>
                </a:lnTo>
                <a:lnTo>
                  <a:pt x="11619426" y="1696267"/>
                </a:lnTo>
                <a:lnTo>
                  <a:pt x="0" y="169626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D2BC281-4D1D-A7B3-4958-B4A4F6737F3A}"/>
              </a:ext>
            </a:extLst>
          </p:cNvPr>
          <p:cNvSpPr txBox="1"/>
          <p:nvPr/>
        </p:nvSpPr>
        <p:spPr>
          <a:xfrm>
            <a:off x="6126215" y="1688251"/>
            <a:ext cx="6802103" cy="1148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0296"/>
              </a:lnSpc>
              <a:spcBef>
                <a:spcPct val="0"/>
              </a:spcBef>
            </a:pPr>
            <a:r>
              <a:rPr lang="fa-IR" sz="4800" dirty="0">
                <a:solidFill>
                  <a:schemeClr val="bg1"/>
                </a:solidFill>
              </a:rPr>
              <a:t>یادگیری تقویتی با </a:t>
            </a:r>
            <a:r>
              <a:rPr lang="en-US" sz="4800" dirty="0">
                <a:solidFill>
                  <a:schemeClr val="bg1"/>
                </a:solidFill>
              </a:rPr>
              <a:t>PPO</a:t>
            </a:r>
            <a:endParaRPr lang="en-US" sz="4800" b="1" dirty="0">
              <a:solidFill>
                <a:schemeClr val="bg1"/>
              </a:solidFill>
              <a:latin typeface="Gill Sans Bold"/>
              <a:ea typeface="Gill Sans Bold"/>
              <a:cs typeface="Gill Sans Bold"/>
              <a:sym typeface="Gill Sans 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B1FC2B-E729-BBA9-8CE2-87B8C4DD10FE}"/>
              </a:ext>
            </a:extLst>
          </p:cNvPr>
          <p:cNvSpPr txBox="1"/>
          <p:nvPr/>
        </p:nvSpPr>
        <p:spPr>
          <a:xfrm>
            <a:off x="1905000" y="4152900"/>
            <a:ext cx="139446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cs typeface="B Nazanin" panose="00000400000000000000" pitchFamily="2" charset="-78"/>
              </a:rPr>
              <a:t>در مرحله بعد، از </a:t>
            </a:r>
            <a:r>
              <a:rPr lang="en-US" sz="4000" b="1" dirty="0">
                <a:cs typeface="B Nazanin" panose="00000400000000000000" pitchFamily="2" charset="-78"/>
              </a:rPr>
              <a:t>Proximal Policy Optimization (PPO)</a:t>
            </a:r>
            <a:r>
              <a:rPr lang="fa-IR" sz="4000" b="1" dirty="0">
                <a:cs typeface="B Nazanin" panose="00000400000000000000" pitchFamily="2" charset="-78"/>
              </a:rPr>
              <a:t> </a:t>
            </a:r>
            <a:r>
              <a:rPr lang="en-US" sz="4000" dirty="0">
                <a:cs typeface="B Nazanin" panose="00000400000000000000" pitchFamily="2" charset="-78"/>
              </a:rPr>
              <a:t> </a:t>
            </a:r>
            <a:r>
              <a:rPr lang="fa-IR" sz="4000" dirty="0">
                <a:cs typeface="B Nazanin" panose="00000400000000000000" pitchFamily="2" charset="-78"/>
              </a:rPr>
              <a:t>استفاده شد.</a:t>
            </a:r>
          </a:p>
          <a:p>
            <a:pPr algn="r" rtl="1"/>
            <a:r>
              <a:rPr lang="fa-IR" sz="4000" dirty="0">
                <a:cs typeface="B Nazanin" panose="00000400000000000000" pitchFamily="2" charset="-78"/>
              </a:rPr>
              <a:t>در این روش:</a:t>
            </a: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r>
              <a:rPr lang="fa-IR" sz="4000" dirty="0">
                <a:cs typeface="B Nazanin" panose="00000400000000000000" pitchFamily="2" charset="-78"/>
              </a:rPr>
              <a:t>مدل به‌عنوان </a:t>
            </a:r>
            <a:r>
              <a:rPr lang="en-US" sz="4000" dirty="0">
                <a:cs typeface="B Nazanin" panose="00000400000000000000" pitchFamily="2" charset="-78"/>
              </a:rPr>
              <a:t>policy</a:t>
            </a:r>
            <a:r>
              <a:rPr lang="fa-IR" sz="4000" dirty="0">
                <a:cs typeface="B Nazanin" panose="00000400000000000000" pitchFamily="2" charset="-78"/>
              </a:rPr>
              <a:t> </a:t>
            </a:r>
            <a:r>
              <a:rPr lang="en-US" sz="4000" dirty="0">
                <a:cs typeface="B Nazanin" panose="00000400000000000000" pitchFamily="2" charset="-78"/>
              </a:rPr>
              <a:t> </a:t>
            </a:r>
            <a:r>
              <a:rPr lang="fa-IR" sz="4000" dirty="0">
                <a:cs typeface="B Nazanin" panose="00000400000000000000" pitchFamily="2" charset="-78"/>
              </a:rPr>
              <a:t>عمل می‌کند</a:t>
            </a: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r>
              <a:rPr lang="fa-IR" sz="4000" dirty="0">
                <a:cs typeface="B Nazanin" panose="00000400000000000000" pitchFamily="2" charset="-78"/>
              </a:rPr>
              <a:t>هدف، بیشینه‌سازی </a:t>
            </a:r>
            <a:r>
              <a:rPr lang="en-US" sz="4000" dirty="0">
                <a:cs typeface="B Nazanin" panose="00000400000000000000" pitchFamily="2" charset="-78"/>
              </a:rPr>
              <a:t>reward</a:t>
            </a:r>
            <a:r>
              <a:rPr lang="fa-IR" sz="4000" dirty="0">
                <a:cs typeface="B Nazanin" panose="00000400000000000000" pitchFamily="2" charset="-78"/>
              </a:rPr>
              <a:t> </a:t>
            </a:r>
            <a:r>
              <a:rPr lang="en-US" sz="4000" dirty="0">
                <a:cs typeface="B Nazanin" panose="00000400000000000000" pitchFamily="2" charset="-78"/>
              </a:rPr>
              <a:t> </a:t>
            </a:r>
            <a:r>
              <a:rPr lang="fa-IR" sz="4000" dirty="0">
                <a:cs typeface="B Nazanin" panose="00000400000000000000" pitchFamily="2" charset="-78"/>
              </a:rPr>
              <a:t>است</a:t>
            </a: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r>
              <a:rPr lang="fa-IR" sz="4000" dirty="0">
                <a:cs typeface="B Nazanin" panose="00000400000000000000" pitchFamily="2" charset="-78"/>
              </a:rPr>
              <a:t>یک مدل مرجع برای کنترل انحراف استفاده می‌شود</a:t>
            </a:r>
          </a:p>
        </p:txBody>
      </p:sp>
    </p:spTree>
    <p:extLst>
      <p:ext uri="{BB962C8B-B14F-4D97-AF65-F5344CB8AC3E}">
        <p14:creationId xmlns:p14="http://schemas.microsoft.com/office/powerpoint/2010/main" val="20340658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A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690547-BCD3-3291-CF07-87C650261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FC4BE99-EFB0-EA8B-7E8E-5419B308C8B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895" t="-29019" b="-3514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99DB5E1-DCED-3134-C4B2-716CF2D6ADE6}"/>
              </a:ext>
            </a:extLst>
          </p:cNvPr>
          <p:cNvSpPr/>
          <p:nvPr/>
        </p:nvSpPr>
        <p:spPr>
          <a:xfrm rot="-642096" flipH="1">
            <a:off x="-2470983" y="2094098"/>
            <a:ext cx="4603724" cy="3766684"/>
          </a:xfrm>
          <a:custGeom>
            <a:avLst/>
            <a:gdLst/>
            <a:ahLst/>
            <a:cxnLst/>
            <a:rect l="l" t="t" r="r" b="b"/>
            <a:pathLst>
              <a:path w="4603724" h="3766684">
                <a:moveTo>
                  <a:pt x="4603725" y="0"/>
                </a:moveTo>
                <a:lnTo>
                  <a:pt x="0" y="0"/>
                </a:lnTo>
                <a:lnTo>
                  <a:pt x="0" y="3766683"/>
                </a:lnTo>
                <a:lnTo>
                  <a:pt x="4603725" y="3766683"/>
                </a:lnTo>
                <a:lnTo>
                  <a:pt x="460372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ED772021-7600-180D-92EF-5E002D82A25A}"/>
              </a:ext>
            </a:extLst>
          </p:cNvPr>
          <p:cNvSpPr/>
          <p:nvPr/>
        </p:nvSpPr>
        <p:spPr>
          <a:xfrm>
            <a:off x="11416096" y="7643527"/>
            <a:ext cx="16936602" cy="4745444"/>
          </a:xfrm>
          <a:custGeom>
            <a:avLst/>
            <a:gdLst/>
            <a:ahLst/>
            <a:cxnLst/>
            <a:rect l="l" t="t" r="r" b="b"/>
            <a:pathLst>
              <a:path w="16936602" h="4745444">
                <a:moveTo>
                  <a:pt x="0" y="0"/>
                </a:moveTo>
                <a:lnTo>
                  <a:pt x="16936602" y="0"/>
                </a:lnTo>
                <a:lnTo>
                  <a:pt x="16936602" y="4745444"/>
                </a:lnTo>
                <a:lnTo>
                  <a:pt x="0" y="47454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4162B689-DE2E-ACE8-EF2A-7AEBC578E9E4}"/>
              </a:ext>
            </a:extLst>
          </p:cNvPr>
          <p:cNvSpPr/>
          <p:nvPr/>
        </p:nvSpPr>
        <p:spPr>
          <a:xfrm rot="-1802037">
            <a:off x="14977490" y="4375867"/>
            <a:ext cx="6621020" cy="5417199"/>
          </a:xfrm>
          <a:custGeom>
            <a:avLst/>
            <a:gdLst/>
            <a:ahLst/>
            <a:cxnLst/>
            <a:rect l="l" t="t" r="r" b="b"/>
            <a:pathLst>
              <a:path w="6621020" h="5417199">
                <a:moveTo>
                  <a:pt x="0" y="0"/>
                </a:moveTo>
                <a:lnTo>
                  <a:pt x="6621020" y="0"/>
                </a:lnTo>
                <a:lnTo>
                  <a:pt x="6621020" y="5417198"/>
                </a:lnTo>
                <a:lnTo>
                  <a:pt x="0" y="54171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FF2AC39-5168-2433-9610-DCBBD17DBC6F}"/>
              </a:ext>
            </a:extLst>
          </p:cNvPr>
          <p:cNvSpPr/>
          <p:nvPr/>
        </p:nvSpPr>
        <p:spPr>
          <a:xfrm flipH="1" flipV="1">
            <a:off x="-12985570" y="-2263645"/>
            <a:ext cx="19111785" cy="5354906"/>
          </a:xfrm>
          <a:custGeom>
            <a:avLst/>
            <a:gdLst/>
            <a:ahLst/>
            <a:cxnLst/>
            <a:rect l="l" t="t" r="r" b="b"/>
            <a:pathLst>
              <a:path w="19111785" h="5354906">
                <a:moveTo>
                  <a:pt x="19111785" y="5354906"/>
                </a:moveTo>
                <a:lnTo>
                  <a:pt x="0" y="5354906"/>
                </a:lnTo>
                <a:lnTo>
                  <a:pt x="0" y="0"/>
                </a:lnTo>
                <a:lnTo>
                  <a:pt x="19111785" y="0"/>
                </a:lnTo>
                <a:lnTo>
                  <a:pt x="19111785" y="535490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990B6EF-389F-8AC1-E0EA-CBDE16C05194}"/>
              </a:ext>
            </a:extLst>
          </p:cNvPr>
          <p:cNvSpPr/>
          <p:nvPr/>
        </p:nvSpPr>
        <p:spPr>
          <a:xfrm>
            <a:off x="3334287" y="1684066"/>
            <a:ext cx="11619426" cy="1696267"/>
          </a:xfrm>
          <a:custGeom>
            <a:avLst/>
            <a:gdLst/>
            <a:ahLst/>
            <a:cxnLst/>
            <a:rect l="l" t="t" r="r" b="b"/>
            <a:pathLst>
              <a:path w="11619426" h="1696267">
                <a:moveTo>
                  <a:pt x="0" y="0"/>
                </a:moveTo>
                <a:lnTo>
                  <a:pt x="11619426" y="0"/>
                </a:lnTo>
                <a:lnTo>
                  <a:pt x="11619426" y="1696267"/>
                </a:lnTo>
                <a:lnTo>
                  <a:pt x="0" y="169626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28EAE6B-766A-71E6-CA1F-9A0670CAEFBC}"/>
              </a:ext>
            </a:extLst>
          </p:cNvPr>
          <p:cNvSpPr txBox="1"/>
          <p:nvPr/>
        </p:nvSpPr>
        <p:spPr>
          <a:xfrm>
            <a:off x="6126215" y="1688251"/>
            <a:ext cx="6802103" cy="1148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0296"/>
              </a:lnSpc>
              <a:spcBef>
                <a:spcPct val="0"/>
              </a:spcBef>
            </a:pPr>
            <a:r>
              <a:rPr lang="fa-IR" sz="4800" dirty="0">
                <a:solidFill>
                  <a:schemeClr val="bg1"/>
                </a:solidFill>
              </a:rPr>
              <a:t>طراحی پاداش </a:t>
            </a:r>
            <a:r>
              <a:rPr lang="en-US" sz="4800" dirty="0">
                <a:solidFill>
                  <a:schemeClr val="bg1"/>
                </a:solidFill>
              </a:rPr>
              <a:t>(Reward)</a:t>
            </a:r>
            <a:endParaRPr lang="en-US" sz="4800" b="1" dirty="0">
              <a:solidFill>
                <a:schemeClr val="bg1"/>
              </a:solidFill>
              <a:latin typeface="Gill Sans Bold"/>
              <a:ea typeface="Gill Sans Bold"/>
              <a:cs typeface="Gill Sans Bold"/>
              <a:sym typeface="Gill Sans 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384C4B-327E-C250-E4E8-CD08857C514F}"/>
              </a:ext>
            </a:extLst>
          </p:cNvPr>
          <p:cNvSpPr txBox="1"/>
          <p:nvPr/>
        </p:nvSpPr>
        <p:spPr>
          <a:xfrm>
            <a:off x="1905000" y="4152900"/>
            <a:ext cx="13944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cs typeface="B Nazanin" panose="00000400000000000000" pitchFamily="2" charset="-78"/>
              </a:rPr>
              <a:t>پاداش استفاده‌شده یک تقریب ساده از</a:t>
            </a:r>
            <a:r>
              <a:rPr lang="en-US" sz="4000" dirty="0">
                <a:cs typeface="B Nazanin" panose="00000400000000000000" pitchFamily="2" charset="-78"/>
              </a:rPr>
              <a:t> engagement </a:t>
            </a:r>
            <a:r>
              <a:rPr lang="fa-IR" sz="4000" dirty="0">
                <a:cs typeface="B Nazanin" panose="00000400000000000000" pitchFamily="2" charset="-78"/>
              </a:rPr>
              <a:t>بود، شامل:</a:t>
            </a: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r>
              <a:rPr lang="fa-IR" sz="4000" dirty="0">
                <a:cs typeface="B Nazanin" panose="00000400000000000000" pitchFamily="2" charset="-78"/>
              </a:rPr>
              <a:t>طول متن</a:t>
            </a: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r>
              <a:rPr lang="fa-IR" sz="4000" dirty="0">
                <a:cs typeface="B Nazanin" panose="00000400000000000000" pitchFamily="2" charset="-78"/>
              </a:rPr>
              <a:t>تعداد هشتگ‌ها</a:t>
            </a:r>
          </a:p>
          <a:p>
            <a:pPr algn="r" rtl="1"/>
            <a:r>
              <a:rPr lang="fa-IR" sz="4000" dirty="0">
                <a:cs typeface="B Nazanin" panose="00000400000000000000" pitchFamily="2" charset="-78"/>
              </a:rPr>
              <a:t>نکته مهم:</a:t>
            </a: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r>
              <a:rPr lang="fa-IR" sz="4000" dirty="0">
                <a:cs typeface="B Nazanin" panose="00000400000000000000" pitchFamily="2" charset="-78"/>
              </a:rPr>
              <a:t>پاداش ساده می‌تواند باعث </a:t>
            </a:r>
            <a:r>
              <a:rPr lang="en-US" sz="4000" dirty="0">
                <a:cs typeface="B Nazanin" panose="00000400000000000000" pitchFamily="2" charset="-78"/>
              </a:rPr>
              <a:t>reward hacking</a:t>
            </a:r>
            <a:r>
              <a:rPr lang="fa-IR" sz="4000" dirty="0">
                <a:cs typeface="B Nazanin" panose="00000400000000000000" pitchFamily="2" charset="-78"/>
              </a:rPr>
              <a:t> </a:t>
            </a:r>
            <a:r>
              <a:rPr lang="en-US" sz="4000" dirty="0">
                <a:cs typeface="B Nazanin" panose="00000400000000000000" pitchFamily="2" charset="-78"/>
              </a:rPr>
              <a:t> </a:t>
            </a:r>
            <a:r>
              <a:rPr lang="fa-IR" sz="4000" dirty="0">
                <a:cs typeface="B Nazanin" panose="00000400000000000000" pitchFamily="2" charset="-78"/>
              </a:rPr>
              <a:t>شود</a:t>
            </a: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r>
              <a:rPr lang="fa-IR" sz="4000" dirty="0">
                <a:cs typeface="B Nazanin" panose="00000400000000000000" pitchFamily="2" charset="-78"/>
              </a:rPr>
              <a:t>این موضوع در نتایج </a:t>
            </a:r>
            <a:r>
              <a:rPr lang="en-US" sz="4000" dirty="0">
                <a:cs typeface="B Nazanin" panose="00000400000000000000" pitchFamily="2" charset="-78"/>
              </a:rPr>
              <a:t>PPO</a:t>
            </a:r>
            <a:r>
              <a:rPr lang="fa-IR" sz="4000" dirty="0">
                <a:cs typeface="B Nazanin" panose="00000400000000000000" pitchFamily="2" charset="-78"/>
              </a:rPr>
              <a:t> </a:t>
            </a:r>
            <a:r>
              <a:rPr lang="en-US" sz="4000" dirty="0">
                <a:cs typeface="B Nazanin" panose="00000400000000000000" pitchFamily="2" charset="-78"/>
              </a:rPr>
              <a:t> </a:t>
            </a:r>
            <a:r>
              <a:rPr lang="fa-IR" sz="4000" dirty="0">
                <a:cs typeface="B Nazanin" panose="00000400000000000000" pitchFamily="2" charset="-78"/>
              </a:rPr>
              <a:t>مشاهده شد</a:t>
            </a:r>
          </a:p>
        </p:txBody>
      </p:sp>
    </p:spTree>
    <p:extLst>
      <p:ext uri="{BB962C8B-B14F-4D97-AF65-F5344CB8AC3E}">
        <p14:creationId xmlns:p14="http://schemas.microsoft.com/office/powerpoint/2010/main" val="12815857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A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B9B2D0-07BD-983D-F9C9-8F851BC86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BDB8569-BEF1-CCA9-F9CD-606AC6E53ED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895" t="-29019" b="-3514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10E3B8D-1909-E9D5-97DA-7C281B39FDB4}"/>
              </a:ext>
            </a:extLst>
          </p:cNvPr>
          <p:cNvSpPr/>
          <p:nvPr/>
        </p:nvSpPr>
        <p:spPr>
          <a:xfrm rot="-642096" flipH="1">
            <a:off x="-2470983" y="2094098"/>
            <a:ext cx="4603724" cy="3766684"/>
          </a:xfrm>
          <a:custGeom>
            <a:avLst/>
            <a:gdLst/>
            <a:ahLst/>
            <a:cxnLst/>
            <a:rect l="l" t="t" r="r" b="b"/>
            <a:pathLst>
              <a:path w="4603724" h="3766684">
                <a:moveTo>
                  <a:pt x="4603725" y="0"/>
                </a:moveTo>
                <a:lnTo>
                  <a:pt x="0" y="0"/>
                </a:lnTo>
                <a:lnTo>
                  <a:pt x="0" y="3766683"/>
                </a:lnTo>
                <a:lnTo>
                  <a:pt x="4603725" y="3766683"/>
                </a:lnTo>
                <a:lnTo>
                  <a:pt x="460372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70CD289-F654-6619-6F87-7624CD348185}"/>
              </a:ext>
            </a:extLst>
          </p:cNvPr>
          <p:cNvSpPr/>
          <p:nvPr/>
        </p:nvSpPr>
        <p:spPr>
          <a:xfrm>
            <a:off x="11416096" y="7643527"/>
            <a:ext cx="16936602" cy="4745444"/>
          </a:xfrm>
          <a:custGeom>
            <a:avLst/>
            <a:gdLst/>
            <a:ahLst/>
            <a:cxnLst/>
            <a:rect l="l" t="t" r="r" b="b"/>
            <a:pathLst>
              <a:path w="16936602" h="4745444">
                <a:moveTo>
                  <a:pt x="0" y="0"/>
                </a:moveTo>
                <a:lnTo>
                  <a:pt x="16936602" y="0"/>
                </a:lnTo>
                <a:lnTo>
                  <a:pt x="16936602" y="4745444"/>
                </a:lnTo>
                <a:lnTo>
                  <a:pt x="0" y="47454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2B6E46DC-9E7C-4E90-63C9-50D1A6C56DD7}"/>
              </a:ext>
            </a:extLst>
          </p:cNvPr>
          <p:cNvSpPr/>
          <p:nvPr/>
        </p:nvSpPr>
        <p:spPr>
          <a:xfrm rot="-1802037">
            <a:off x="14977490" y="4375867"/>
            <a:ext cx="6621020" cy="5417199"/>
          </a:xfrm>
          <a:custGeom>
            <a:avLst/>
            <a:gdLst/>
            <a:ahLst/>
            <a:cxnLst/>
            <a:rect l="l" t="t" r="r" b="b"/>
            <a:pathLst>
              <a:path w="6621020" h="5417199">
                <a:moveTo>
                  <a:pt x="0" y="0"/>
                </a:moveTo>
                <a:lnTo>
                  <a:pt x="6621020" y="0"/>
                </a:lnTo>
                <a:lnTo>
                  <a:pt x="6621020" y="5417198"/>
                </a:lnTo>
                <a:lnTo>
                  <a:pt x="0" y="54171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3826DAE-1479-C1CF-98FD-FDFFC7F57520}"/>
              </a:ext>
            </a:extLst>
          </p:cNvPr>
          <p:cNvSpPr/>
          <p:nvPr/>
        </p:nvSpPr>
        <p:spPr>
          <a:xfrm flipH="1" flipV="1">
            <a:off x="-12985570" y="-2263645"/>
            <a:ext cx="19111785" cy="5354906"/>
          </a:xfrm>
          <a:custGeom>
            <a:avLst/>
            <a:gdLst/>
            <a:ahLst/>
            <a:cxnLst/>
            <a:rect l="l" t="t" r="r" b="b"/>
            <a:pathLst>
              <a:path w="19111785" h="5354906">
                <a:moveTo>
                  <a:pt x="19111785" y="5354906"/>
                </a:moveTo>
                <a:lnTo>
                  <a:pt x="0" y="5354906"/>
                </a:lnTo>
                <a:lnTo>
                  <a:pt x="0" y="0"/>
                </a:lnTo>
                <a:lnTo>
                  <a:pt x="19111785" y="0"/>
                </a:lnTo>
                <a:lnTo>
                  <a:pt x="19111785" y="535490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8F12D8F-A4FA-3FD0-EBB3-11C6FCDB26D8}"/>
              </a:ext>
            </a:extLst>
          </p:cNvPr>
          <p:cNvSpPr/>
          <p:nvPr/>
        </p:nvSpPr>
        <p:spPr>
          <a:xfrm>
            <a:off x="3334287" y="1684066"/>
            <a:ext cx="11619426" cy="1696267"/>
          </a:xfrm>
          <a:custGeom>
            <a:avLst/>
            <a:gdLst/>
            <a:ahLst/>
            <a:cxnLst/>
            <a:rect l="l" t="t" r="r" b="b"/>
            <a:pathLst>
              <a:path w="11619426" h="1696267">
                <a:moveTo>
                  <a:pt x="0" y="0"/>
                </a:moveTo>
                <a:lnTo>
                  <a:pt x="11619426" y="0"/>
                </a:lnTo>
                <a:lnTo>
                  <a:pt x="11619426" y="1696267"/>
                </a:lnTo>
                <a:lnTo>
                  <a:pt x="0" y="169626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832D1A2-C998-D4E1-822E-D3FDA20EB1F4}"/>
              </a:ext>
            </a:extLst>
          </p:cNvPr>
          <p:cNvSpPr txBox="1"/>
          <p:nvPr/>
        </p:nvSpPr>
        <p:spPr>
          <a:xfrm>
            <a:off x="6126215" y="1688251"/>
            <a:ext cx="6802103" cy="1175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0296"/>
              </a:lnSpc>
              <a:spcBef>
                <a:spcPct val="0"/>
              </a:spcBef>
            </a:pPr>
            <a:r>
              <a:rPr lang="fa-IR" sz="4800" dirty="0">
                <a:solidFill>
                  <a:schemeClr val="bg1"/>
                </a:solidFill>
                <a:cs typeface="B Nazanin" panose="00000400000000000000" pitchFamily="2" charset="-78"/>
              </a:rPr>
              <a:t>مقایسه مدل‌ها</a:t>
            </a:r>
            <a:endParaRPr lang="en-US" sz="4800" b="1" dirty="0">
              <a:solidFill>
                <a:schemeClr val="bg1"/>
              </a:solidFill>
              <a:latin typeface="Gill Sans Bold"/>
              <a:ea typeface="Gill Sans Bold"/>
              <a:cs typeface="B Nazanin" panose="00000400000000000000" pitchFamily="2" charset="-78"/>
              <a:sym typeface="Gill Sans 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25D036-BA29-9BA4-4DFB-18F0C88B4477}"/>
              </a:ext>
            </a:extLst>
          </p:cNvPr>
          <p:cNvSpPr txBox="1"/>
          <p:nvPr/>
        </p:nvSpPr>
        <p:spPr>
          <a:xfrm>
            <a:off x="1905000" y="4152900"/>
            <a:ext cx="139446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cs typeface="B Nazanin" panose="00000400000000000000" pitchFamily="2" charset="-78"/>
              </a:rPr>
              <a:t>سه مدل نهایی مقایسه شدند:</a:t>
            </a: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r>
              <a:rPr lang="en-US" sz="4000" dirty="0">
                <a:cs typeface="B Nazanin" panose="00000400000000000000" pitchFamily="2" charset="-78"/>
              </a:rPr>
              <a:t> SFT </a:t>
            </a:r>
            <a:r>
              <a:rPr lang="fa-IR" sz="4000" dirty="0">
                <a:cs typeface="B Nazanin" panose="00000400000000000000" pitchFamily="2" charset="-78"/>
              </a:rPr>
              <a:t>با داده خام</a:t>
            </a: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r>
              <a:rPr lang="en-US" sz="4000" dirty="0">
                <a:cs typeface="B Nazanin" panose="00000400000000000000" pitchFamily="2" charset="-78"/>
              </a:rPr>
              <a:t> SFT </a:t>
            </a:r>
            <a:r>
              <a:rPr lang="fa-IR" sz="4000" dirty="0">
                <a:cs typeface="B Nazanin" panose="00000400000000000000" pitchFamily="2" charset="-78"/>
              </a:rPr>
              <a:t>با داده فیلترشده</a:t>
            </a: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r>
              <a:rPr lang="en-US" sz="4000" dirty="0">
                <a:cs typeface="B Nazanin" panose="00000400000000000000" pitchFamily="2" charset="-78"/>
              </a:rPr>
              <a:t>PPO</a:t>
            </a:r>
          </a:p>
          <a:p>
            <a:pPr algn="r" rtl="1"/>
            <a:r>
              <a:rPr lang="fa-IR" sz="4000" dirty="0">
                <a:cs typeface="B Nazanin" panose="00000400000000000000" pitchFamily="2" charset="-78"/>
              </a:rPr>
              <a:t>از نظر کیفی:</a:t>
            </a: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r>
              <a:rPr lang="en-US" sz="4000" dirty="0">
                <a:cs typeface="B Nazanin" panose="00000400000000000000" pitchFamily="2" charset="-78"/>
              </a:rPr>
              <a:t>SFT </a:t>
            </a:r>
            <a:r>
              <a:rPr lang="fa-IR" sz="4000" dirty="0">
                <a:cs typeface="B Nazanin" panose="00000400000000000000" pitchFamily="2" charset="-78"/>
              </a:rPr>
              <a:t> خام: نویز بالا</a:t>
            </a: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r>
              <a:rPr lang="en-US" sz="4000" dirty="0">
                <a:cs typeface="B Nazanin" panose="00000400000000000000" pitchFamily="2" charset="-78"/>
              </a:rPr>
              <a:t> SFT </a:t>
            </a:r>
            <a:r>
              <a:rPr lang="fa-IR" sz="4000" dirty="0">
                <a:cs typeface="B Nazanin" panose="00000400000000000000" pitchFamily="2" charset="-78"/>
              </a:rPr>
              <a:t>فیلترشده: متعادل و منسجم</a:t>
            </a: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r>
              <a:rPr lang="en-US" sz="4000" dirty="0">
                <a:cs typeface="B Nazanin" panose="00000400000000000000" pitchFamily="2" charset="-78"/>
              </a:rPr>
              <a:t> :PPO  </a:t>
            </a:r>
            <a:r>
              <a:rPr lang="fa-IR" sz="4000" dirty="0">
                <a:cs typeface="B Nazanin" panose="00000400000000000000" pitchFamily="2" charset="-78"/>
              </a:rPr>
              <a:t>تمرکز زیاد روی </a:t>
            </a:r>
            <a:r>
              <a:rPr lang="en-US" sz="4000" dirty="0">
                <a:cs typeface="B Nazanin" panose="00000400000000000000" pitchFamily="2" charset="-78"/>
              </a:rPr>
              <a:t>reward، </a:t>
            </a:r>
            <a:r>
              <a:rPr lang="fa-IR" sz="4000" dirty="0">
                <a:cs typeface="B Nazanin" panose="00000400000000000000" pitchFamily="2" charset="-78"/>
              </a:rPr>
              <a:t>گاهی با افت معنا</a:t>
            </a:r>
          </a:p>
        </p:txBody>
      </p:sp>
    </p:spTree>
    <p:extLst>
      <p:ext uri="{BB962C8B-B14F-4D97-AF65-F5344CB8AC3E}">
        <p14:creationId xmlns:p14="http://schemas.microsoft.com/office/powerpoint/2010/main" val="31967047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A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547B24-AEAE-22D8-AC9C-599EC62D0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6B1A6A1-7E8C-FA23-7689-50DA68CEEE8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895" t="-29019" b="-3514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10A5876-7C32-DF3F-C6DD-BD50255A2D53}"/>
              </a:ext>
            </a:extLst>
          </p:cNvPr>
          <p:cNvSpPr/>
          <p:nvPr/>
        </p:nvSpPr>
        <p:spPr>
          <a:xfrm rot="-642096" flipH="1">
            <a:off x="-2470983" y="2094098"/>
            <a:ext cx="4603724" cy="3766684"/>
          </a:xfrm>
          <a:custGeom>
            <a:avLst/>
            <a:gdLst/>
            <a:ahLst/>
            <a:cxnLst/>
            <a:rect l="l" t="t" r="r" b="b"/>
            <a:pathLst>
              <a:path w="4603724" h="3766684">
                <a:moveTo>
                  <a:pt x="4603725" y="0"/>
                </a:moveTo>
                <a:lnTo>
                  <a:pt x="0" y="0"/>
                </a:lnTo>
                <a:lnTo>
                  <a:pt x="0" y="3766683"/>
                </a:lnTo>
                <a:lnTo>
                  <a:pt x="4603725" y="3766683"/>
                </a:lnTo>
                <a:lnTo>
                  <a:pt x="460372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FCDF14A-5E15-D61B-FECF-5E32DA05EF79}"/>
              </a:ext>
            </a:extLst>
          </p:cNvPr>
          <p:cNvSpPr/>
          <p:nvPr/>
        </p:nvSpPr>
        <p:spPr>
          <a:xfrm>
            <a:off x="11416096" y="7643527"/>
            <a:ext cx="16936602" cy="4745444"/>
          </a:xfrm>
          <a:custGeom>
            <a:avLst/>
            <a:gdLst/>
            <a:ahLst/>
            <a:cxnLst/>
            <a:rect l="l" t="t" r="r" b="b"/>
            <a:pathLst>
              <a:path w="16936602" h="4745444">
                <a:moveTo>
                  <a:pt x="0" y="0"/>
                </a:moveTo>
                <a:lnTo>
                  <a:pt x="16936602" y="0"/>
                </a:lnTo>
                <a:lnTo>
                  <a:pt x="16936602" y="4745444"/>
                </a:lnTo>
                <a:lnTo>
                  <a:pt x="0" y="47454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3B4B2C9B-42F7-4154-CC4D-6F543549F42C}"/>
              </a:ext>
            </a:extLst>
          </p:cNvPr>
          <p:cNvSpPr/>
          <p:nvPr/>
        </p:nvSpPr>
        <p:spPr>
          <a:xfrm rot="-1802037">
            <a:off x="14977490" y="4375867"/>
            <a:ext cx="6621020" cy="5417199"/>
          </a:xfrm>
          <a:custGeom>
            <a:avLst/>
            <a:gdLst/>
            <a:ahLst/>
            <a:cxnLst/>
            <a:rect l="l" t="t" r="r" b="b"/>
            <a:pathLst>
              <a:path w="6621020" h="5417199">
                <a:moveTo>
                  <a:pt x="0" y="0"/>
                </a:moveTo>
                <a:lnTo>
                  <a:pt x="6621020" y="0"/>
                </a:lnTo>
                <a:lnTo>
                  <a:pt x="6621020" y="5417198"/>
                </a:lnTo>
                <a:lnTo>
                  <a:pt x="0" y="54171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0DEF7BD-9056-6D6D-2565-A2F896350682}"/>
              </a:ext>
            </a:extLst>
          </p:cNvPr>
          <p:cNvSpPr/>
          <p:nvPr/>
        </p:nvSpPr>
        <p:spPr>
          <a:xfrm flipH="1" flipV="1">
            <a:off x="-12985570" y="-2263645"/>
            <a:ext cx="19111785" cy="5354906"/>
          </a:xfrm>
          <a:custGeom>
            <a:avLst/>
            <a:gdLst/>
            <a:ahLst/>
            <a:cxnLst/>
            <a:rect l="l" t="t" r="r" b="b"/>
            <a:pathLst>
              <a:path w="19111785" h="5354906">
                <a:moveTo>
                  <a:pt x="19111785" y="5354906"/>
                </a:moveTo>
                <a:lnTo>
                  <a:pt x="0" y="5354906"/>
                </a:lnTo>
                <a:lnTo>
                  <a:pt x="0" y="0"/>
                </a:lnTo>
                <a:lnTo>
                  <a:pt x="19111785" y="0"/>
                </a:lnTo>
                <a:lnTo>
                  <a:pt x="19111785" y="535490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A9911BE-A937-6F37-BEC6-9D0A1D0283E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3" y="577615"/>
            <a:ext cx="18288000" cy="81915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2FC3784-1115-C0C5-4A3A-72A2A9D20762}"/>
              </a:ext>
            </a:extLst>
          </p:cNvPr>
          <p:cNvSpPr txBox="1"/>
          <p:nvPr/>
        </p:nvSpPr>
        <p:spPr>
          <a:xfrm>
            <a:off x="3581400" y="8966027"/>
            <a:ext cx="11125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sz="4000" dirty="0">
                <a:cs typeface="B Nazanin" panose="00000400000000000000" pitchFamily="2" charset="-78"/>
              </a:rPr>
              <a:t>مقایسه روند آمورش مدل </a:t>
            </a:r>
            <a:r>
              <a:rPr lang="en-US" sz="4000" dirty="0">
                <a:cs typeface="B Nazanin" panose="00000400000000000000" pitchFamily="2" charset="-78"/>
              </a:rPr>
              <a:t>SFT</a:t>
            </a:r>
            <a:r>
              <a:rPr lang="fa-IR" sz="4000" dirty="0">
                <a:cs typeface="B Nazanin" panose="00000400000000000000" pitchFamily="2" charset="-78"/>
              </a:rPr>
              <a:t> با داده‌های خام و داده‌های فیلتر شده</a:t>
            </a:r>
            <a:endParaRPr lang="en-US" sz="40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583971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A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FFA867-ACD5-4B75-2AA2-70205E69E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B3962FA-1578-311C-8993-E9CE37941D4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895" t="-29019" b="-3514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48E9D81-594C-C393-D4CB-A39B234DFAEB}"/>
              </a:ext>
            </a:extLst>
          </p:cNvPr>
          <p:cNvSpPr/>
          <p:nvPr/>
        </p:nvSpPr>
        <p:spPr>
          <a:xfrm rot="-642096" flipH="1">
            <a:off x="-2470983" y="2094098"/>
            <a:ext cx="4603724" cy="3766684"/>
          </a:xfrm>
          <a:custGeom>
            <a:avLst/>
            <a:gdLst/>
            <a:ahLst/>
            <a:cxnLst/>
            <a:rect l="l" t="t" r="r" b="b"/>
            <a:pathLst>
              <a:path w="4603724" h="3766684">
                <a:moveTo>
                  <a:pt x="4603725" y="0"/>
                </a:moveTo>
                <a:lnTo>
                  <a:pt x="0" y="0"/>
                </a:lnTo>
                <a:lnTo>
                  <a:pt x="0" y="3766683"/>
                </a:lnTo>
                <a:lnTo>
                  <a:pt x="4603725" y="3766683"/>
                </a:lnTo>
                <a:lnTo>
                  <a:pt x="460372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C7B26B9-774F-1597-D5CB-6D8633553BA4}"/>
              </a:ext>
            </a:extLst>
          </p:cNvPr>
          <p:cNvSpPr/>
          <p:nvPr/>
        </p:nvSpPr>
        <p:spPr>
          <a:xfrm>
            <a:off x="11416096" y="7643527"/>
            <a:ext cx="16936602" cy="4745444"/>
          </a:xfrm>
          <a:custGeom>
            <a:avLst/>
            <a:gdLst/>
            <a:ahLst/>
            <a:cxnLst/>
            <a:rect l="l" t="t" r="r" b="b"/>
            <a:pathLst>
              <a:path w="16936602" h="4745444">
                <a:moveTo>
                  <a:pt x="0" y="0"/>
                </a:moveTo>
                <a:lnTo>
                  <a:pt x="16936602" y="0"/>
                </a:lnTo>
                <a:lnTo>
                  <a:pt x="16936602" y="4745444"/>
                </a:lnTo>
                <a:lnTo>
                  <a:pt x="0" y="47454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966DBB1-B1B0-2C70-175A-FD0C6E6B6C6D}"/>
              </a:ext>
            </a:extLst>
          </p:cNvPr>
          <p:cNvSpPr/>
          <p:nvPr/>
        </p:nvSpPr>
        <p:spPr>
          <a:xfrm rot="-1802037">
            <a:off x="14977490" y="4375867"/>
            <a:ext cx="6621020" cy="5417199"/>
          </a:xfrm>
          <a:custGeom>
            <a:avLst/>
            <a:gdLst/>
            <a:ahLst/>
            <a:cxnLst/>
            <a:rect l="l" t="t" r="r" b="b"/>
            <a:pathLst>
              <a:path w="6621020" h="5417199">
                <a:moveTo>
                  <a:pt x="0" y="0"/>
                </a:moveTo>
                <a:lnTo>
                  <a:pt x="6621020" y="0"/>
                </a:lnTo>
                <a:lnTo>
                  <a:pt x="6621020" y="5417198"/>
                </a:lnTo>
                <a:lnTo>
                  <a:pt x="0" y="54171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1A5CD6E-0D88-732D-E6F1-71BB1F44EC5B}"/>
              </a:ext>
            </a:extLst>
          </p:cNvPr>
          <p:cNvSpPr/>
          <p:nvPr/>
        </p:nvSpPr>
        <p:spPr>
          <a:xfrm flipH="1" flipV="1">
            <a:off x="-12985570" y="-2263645"/>
            <a:ext cx="19111785" cy="5354906"/>
          </a:xfrm>
          <a:custGeom>
            <a:avLst/>
            <a:gdLst/>
            <a:ahLst/>
            <a:cxnLst/>
            <a:rect l="l" t="t" r="r" b="b"/>
            <a:pathLst>
              <a:path w="19111785" h="5354906">
                <a:moveTo>
                  <a:pt x="19111785" y="5354906"/>
                </a:moveTo>
                <a:lnTo>
                  <a:pt x="0" y="5354906"/>
                </a:lnTo>
                <a:lnTo>
                  <a:pt x="0" y="0"/>
                </a:lnTo>
                <a:lnTo>
                  <a:pt x="19111785" y="0"/>
                </a:lnTo>
                <a:lnTo>
                  <a:pt x="19111785" y="535490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CA622A8B-B16E-95D6-DBC3-73750FD39A9F}"/>
              </a:ext>
            </a:extLst>
          </p:cNvPr>
          <p:cNvSpPr/>
          <p:nvPr/>
        </p:nvSpPr>
        <p:spPr>
          <a:xfrm>
            <a:off x="3334287" y="1684066"/>
            <a:ext cx="11619426" cy="1696267"/>
          </a:xfrm>
          <a:custGeom>
            <a:avLst/>
            <a:gdLst/>
            <a:ahLst/>
            <a:cxnLst/>
            <a:rect l="l" t="t" r="r" b="b"/>
            <a:pathLst>
              <a:path w="11619426" h="1696267">
                <a:moveTo>
                  <a:pt x="0" y="0"/>
                </a:moveTo>
                <a:lnTo>
                  <a:pt x="11619426" y="0"/>
                </a:lnTo>
                <a:lnTo>
                  <a:pt x="11619426" y="1696267"/>
                </a:lnTo>
                <a:lnTo>
                  <a:pt x="0" y="169626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38BA798-3281-37C2-6887-F2E9ABFECF79}"/>
              </a:ext>
            </a:extLst>
          </p:cNvPr>
          <p:cNvSpPr txBox="1"/>
          <p:nvPr/>
        </p:nvSpPr>
        <p:spPr>
          <a:xfrm>
            <a:off x="6126215" y="1688251"/>
            <a:ext cx="6802103" cy="11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0296"/>
              </a:lnSpc>
              <a:spcBef>
                <a:spcPct val="0"/>
              </a:spcBef>
            </a:pPr>
            <a:r>
              <a:rPr lang="fa-IR" sz="4800" dirty="0">
                <a:solidFill>
                  <a:schemeClr val="bg1"/>
                </a:solidFill>
              </a:rPr>
              <a:t>تحلیل نتایج</a:t>
            </a:r>
            <a:endParaRPr lang="en-US" sz="4800" b="1" dirty="0">
              <a:solidFill>
                <a:schemeClr val="bg1"/>
              </a:solidFill>
              <a:latin typeface="Gill Sans Bold"/>
              <a:ea typeface="Gill Sans Bold"/>
              <a:cs typeface="Gill Sans Bold"/>
              <a:sym typeface="Gill Sans 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A59E76-404F-6101-59A7-5F08F71A72CB}"/>
              </a:ext>
            </a:extLst>
          </p:cNvPr>
          <p:cNvSpPr txBox="1"/>
          <p:nvPr/>
        </p:nvSpPr>
        <p:spPr>
          <a:xfrm>
            <a:off x="1905000" y="4152900"/>
            <a:ext cx="139446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cs typeface="B Nazanin" panose="00000400000000000000" pitchFamily="2" charset="-78"/>
              </a:rPr>
              <a:t>نتایج نشان داد:</a:t>
            </a: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r>
              <a:rPr lang="fa-IR" sz="4000" dirty="0">
                <a:cs typeface="B Nazanin" panose="00000400000000000000" pitchFamily="2" charset="-78"/>
              </a:rPr>
              <a:t>فیلتر داده باعث پایداری آموزش شد</a:t>
            </a: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r>
              <a:rPr lang="en-US" sz="4000" dirty="0">
                <a:cs typeface="B Nazanin" panose="00000400000000000000" pitchFamily="2" charset="-78"/>
              </a:rPr>
              <a:t>PPO</a:t>
            </a:r>
            <a:r>
              <a:rPr lang="fa-IR" sz="4000" dirty="0">
                <a:cs typeface="B Nazanin" panose="00000400000000000000" pitchFamily="2" charset="-78"/>
              </a:rPr>
              <a:t> </a:t>
            </a:r>
            <a:r>
              <a:rPr lang="en-US" sz="4000" dirty="0">
                <a:cs typeface="B Nazanin" panose="00000400000000000000" pitchFamily="2" charset="-78"/>
              </a:rPr>
              <a:t> </a:t>
            </a:r>
            <a:r>
              <a:rPr lang="fa-IR" sz="4000" dirty="0">
                <a:cs typeface="B Nazanin" panose="00000400000000000000" pitchFamily="2" charset="-78"/>
              </a:rPr>
              <a:t>پاداش را تقویت کرد</a:t>
            </a: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r>
              <a:rPr lang="en-US" sz="4000" dirty="0">
                <a:cs typeface="B Nazanin" panose="00000400000000000000" pitchFamily="2" charset="-78"/>
              </a:rPr>
              <a:t>PPO </a:t>
            </a:r>
            <a:r>
              <a:rPr lang="fa-IR" sz="4000" dirty="0">
                <a:cs typeface="B Nazanin" panose="00000400000000000000" pitchFamily="2" charset="-78"/>
              </a:rPr>
              <a:t> بدون </a:t>
            </a:r>
            <a:r>
              <a:rPr lang="en-US" sz="4000" dirty="0">
                <a:cs typeface="B Nazanin" panose="00000400000000000000" pitchFamily="2" charset="-78"/>
              </a:rPr>
              <a:t>reward </a:t>
            </a:r>
            <a:r>
              <a:rPr lang="fa-IR" sz="4000" dirty="0">
                <a:cs typeface="B Nazanin" panose="00000400000000000000" pitchFamily="2" charset="-78"/>
              </a:rPr>
              <a:t> مناسب می‌تواند کیفیت معنایی را کاهش دهد</a:t>
            </a:r>
          </a:p>
        </p:txBody>
      </p:sp>
    </p:spTree>
    <p:extLst>
      <p:ext uri="{BB962C8B-B14F-4D97-AF65-F5344CB8AC3E}">
        <p14:creationId xmlns:p14="http://schemas.microsoft.com/office/powerpoint/2010/main" val="9208125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A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EF8D3A-73B4-9D83-20C6-B4B0E4351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C0DD31C-6DFD-7DDD-2BC7-0C18423FC1A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895" t="-29019" b="-3514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267A35A-4612-1F17-7022-D8DD71D2CB1A}"/>
              </a:ext>
            </a:extLst>
          </p:cNvPr>
          <p:cNvSpPr/>
          <p:nvPr/>
        </p:nvSpPr>
        <p:spPr>
          <a:xfrm rot="-642096" flipH="1">
            <a:off x="-2470983" y="2094098"/>
            <a:ext cx="4603724" cy="3766684"/>
          </a:xfrm>
          <a:custGeom>
            <a:avLst/>
            <a:gdLst/>
            <a:ahLst/>
            <a:cxnLst/>
            <a:rect l="l" t="t" r="r" b="b"/>
            <a:pathLst>
              <a:path w="4603724" h="3766684">
                <a:moveTo>
                  <a:pt x="4603725" y="0"/>
                </a:moveTo>
                <a:lnTo>
                  <a:pt x="0" y="0"/>
                </a:lnTo>
                <a:lnTo>
                  <a:pt x="0" y="3766683"/>
                </a:lnTo>
                <a:lnTo>
                  <a:pt x="4603725" y="3766683"/>
                </a:lnTo>
                <a:lnTo>
                  <a:pt x="460372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4C4DE37-6583-1923-65F8-238F7C6FA7B1}"/>
              </a:ext>
            </a:extLst>
          </p:cNvPr>
          <p:cNvSpPr/>
          <p:nvPr/>
        </p:nvSpPr>
        <p:spPr>
          <a:xfrm>
            <a:off x="11416096" y="7643527"/>
            <a:ext cx="16936602" cy="4745444"/>
          </a:xfrm>
          <a:custGeom>
            <a:avLst/>
            <a:gdLst/>
            <a:ahLst/>
            <a:cxnLst/>
            <a:rect l="l" t="t" r="r" b="b"/>
            <a:pathLst>
              <a:path w="16936602" h="4745444">
                <a:moveTo>
                  <a:pt x="0" y="0"/>
                </a:moveTo>
                <a:lnTo>
                  <a:pt x="16936602" y="0"/>
                </a:lnTo>
                <a:lnTo>
                  <a:pt x="16936602" y="4745444"/>
                </a:lnTo>
                <a:lnTo>
                  <a:pt x="0" y="47454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3AD0393A-935E-4346-30CE-8C71817E77D8}"/>
              </a:ext>
            </a:extLst>
          </p:cNvPr>
          <p:cNvSpPr/>
          <p:nvPr/>
        </p:nvSpPr>
        <p:spPr>
          <a:xfrm rot="-1802037">
            <a:off x="14977490" y="4375867"/>
            <a:ext cx="6621020" cy="5417199"/>
          </a:xfrm>
          <a:custGeom>
            <a:avLst/>
            <a:gdLst/>
            <a:ahLst/>
            <a:cxnLst/>
            <a:rect l="l" t="t" r="r" b="b"/>
            <a:pathLst>
              <a:path w="6621020" h="5417199">
                <a:moveTo>
                  <a:pt x="0" y="0"/>
                </a:moveTo>
                <a:lnTo>
                  <a:pt x="6621020" y="0"/>
                </a:lnTo>
                <a:lnTo>
                  <a:pt x="6621020" y="5417198"/>
                </a:lnTo>
                <a:lnTo>
                  <a:pt x="0" y="54171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094948A-D146-FC88-297D-B0909193D3C2}"/>
              </a:ext>
            </a:extLst>
          </p:cNvPr>
          <p:cNvSpPr/>
          <p:nvPr/>
        </p:nvSpPr>
        <p:spPr>
          <a:xfrm flipH="1" flipV="1">
            <a:off x="-12985570" y="-2263645"/>
            <a:ext cx="19111785" cy="5354906"/>
          </a:xfrm>
          <a:custGeom>
            <a:avLst/>
            <a:gdLst/>
            <a:ahLst/>
            <a:cxnLst/>
            <a:rect l="l" t="t" r="r" b="b"/>
            <a:pathLst>
              <a:path w="19111785" h="5354906">
                <a:moveTo>
                  <a:pt x="19111785" y="5354906"/>
                </a:moveTo>
                <a:lnTo>
                  <a:pt x="0" y="5354906"/>
                </a:lnTo>
                <a:lnTo>
                  <a:pt x="0" y="0"/>
                </a:lnTo>
                <a:lnTo>
                  <a:pt x="19111785" y="0"/>
                </a:lnTo>
                <a:lnTo>
                  <a:pt x="19111785" y="535490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48BF5357-06DF-6677-A2C8-5B2D9A591B67}"/>
              </a:ext>
            </a:extLst>
          </p:cNvPr>
          <p:cNvSpPr/>
          <p:nvPr/>
        </p:nvSpPr>
        <p:spPr>
          <a:xfrm>
            <a:off x="3334287" y="1684066"/>
            <a:ext cx="11619426" cy="1696267"/>
          </a:xfrm>
          <a:custGeom>
            <a:avLst/>
            <a:gdLst/>
            <a:ahLst/>
            <a:cxnLst/>
            <a:rect l="l" t="t" r="r" b="b"/>
            <a:pathLst>
              <a:path w="11619426" h="1696267">
                <a:moveTo>
                  <a:pt x="0" y="0"/>
                </a:moveTo>
                <a:lnTo>
                  <a:pt x="11619426" y="0"/>
                </a:lnTo>
                <a:lnTo>
                  <a:pt x="11619426" y="1696267"/>
                </a:lnTo>
                <a:lnTo>
                  <a:pt x="0" y="169626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77EA022-0EB8-4A06-A439-7F5EDF3FF1CB}"/>
              </a:ext>
            </a:extLst>
          </p:cNvPr>
          <p:cNvSpPr txBox="1"/>
          <p:nvPr/>
        </p:nvSpPr>
        <p:spPr>
          <a:xfrm>
            <a:off x="6126215" y="1688251"/>
            <a:ext cx="6802103" cy="11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0296"/>
              </a:lnSpc>
              <a:spcBef>
                <a:spcPct val="0"/>
              </a:spcBef>
            </a:pPr>
            <a:r>
              <a:rPr lang="fa-IR" sz="4800" dirty="0">
                <a:solidFill>
                  <a:schemeClr val="bg1"/>
                </a:solidFill>
              </a:rPr>
              <a:t>جمع‌بندی و نتیجه‌گیری</a:t>
            </a:r>
            <a:endParaRPr lang="en-US" sz="4800" b="1" dirty="0">
              <a:solidFill>
                <a:schemeClr val="bg1"/>
              </a:solidFill>
              <a:latin typeface="Gill Sans Bold"/>
              <a:ea typeface="Gill Sans Bold"/>
              <a:cs typeface="Gill Sans Bold"/>
              <a:sym typeface="Gill Sans 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9A3589-8D27-FB25-868F-7BDE1843DBFD}"/>
              </a:ext>
            </a:extLst>
          </p:cNvPr>
          <p:cNvSpPr txBox="1"/>
          <p:nvPr/>
        </p:nvSpPr>
        <p:spPr>
          <a:xfrm>
            <a:off x="1905000" y="4152900"/>
            <a:ext cx="13944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4000" dirty="0">
                <a:cs typeface="B Nazanin" panose="00000400000000000000" pitchFamily="2" charset="-78"/>
              </a:rPr>
              <a:t>در این پروژه:</a:t>
            </a: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r>
              <a:rPr lang="fa-IR" sz="4000" dirty="0">
                <a:cs typeface="B Nazanin" panose="00000400000000000000" pitchFamily="2" charset="-78"/>
              </a:rPr>
              <a:t>آموزش نظارت‌شده انجام شد</a:t>
            </a: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r>
              <a:rPr lang="fa-IR" sz="4000" dirty="0">
                <a:cs typeface="B Nazanin" panose="00000400000000000000" pitchFamily="2" charset="-78"/>
              </a:rPr>
              <a:t>داده‌ها فیلتر شدند</a:t>
            </a:r>
          </a:p>
          <a:p>
            <a:pPr marL="1028700" lvl="1" indent="-571500" algn="r" rtl="1">
              <a:buFont typeface="Arial" panose="020B0604020202020204" pitchFamily="34" charset="0"/>
              <a:buChar char="•"/>
            </a:pPr>
            <a:r>
              <a:rPr lang="fa-IR" sz="4000" dirty="0">
                <a:cs typeface="B Nazanin" panose="00000400000000000000" pitchFamily="2" charset="-78"/>
              </a:rPr>
              <a:t>یادگیری تقویتی اعمال شد</a:t>
            </a:r>
          </a:p>
          <a:p>
            <a:pPr algn="r" rtl="1"/>
            <a:r>
              <a:rPr lang="fa-IR" sz="4000" dirty="0">
                <a:cs typeface="B Nazanin" panose="00000400000000000000" pitchFamily="2" charset="-78"/>
              </a:rPr>
              <a:t>نتیجه اصلی:</a:t>
            </a:r>
          </a:p>
          <a:p>
            <a:pPr algn="r" rtl="1"/>
            <a:r>
              <a:rPr lang="fa-IR" sz="4000" b="1" dirty="0">
                <a:cs typeface="B Nazanin" panose="00000400000000000000" pitchFamily="2" charset="-78"/>
              </a:rPr>
              <a:t>در </a:t>
            </a:r>
            <a:r>
              <a:rPr lang="en-US" sz="4000" b="1" dirty="0">
                <a:cs typeface="B Nazanin" panose="00000400000000000000" pitchFamily="2" charset="-78"/>
              </a:rPr>
              <a:t>RLHF، </a:t>
            </a:r>
            <a:r>
              <a:rPr lang="fa-IR" sz="4000" b="1" dirty="0">
                <a:cs typeface="B Nazanin" panose="00000400000000000000" pitchFamily="2" charset="-78"/>
              </a:rPr>
              <a:t>طراحی پاداش و کیفیت داده به اندازه مدل مهم هستند.</a:t>
            </a:r>
            <a:endParaRPr lang="fa-IR" sz="40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9817392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895" t="-29019" b="-3514"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6080666" y="-1286086"/>
            <a:ext cx="14678635" cy="4112787"/>
          </a:xfrm>
          <a:custGeom>
            <a:avLst/>
            <a:gdLst/>
            <a:ahLst/>
            <a:cxnLst/>
            <a:rect l="l" t="t" r="r" b="b"/>
            <a:pathLst>
              <a:path w="14678635" h="4112787">
                <a:moveTo>
                  <a:pt x="14678636" y="4112787"/>
                </a:moveTo>
                <a:lnTo>
                  <a:pt x="0" y="4112787"/>
                </a:lnTo>
                <a:lnTo>
                  <a:pt x="0" y="0"/>
                </a:lnTo>
                <a:lnTo>
                  <a:pt x="14678636" y="0"/>
                </a:lnTo>
                <a:lnTo>
                  <a:pt x="14678636" y="411278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4174148" flipH="1">
            <a:off x="-1273162" y="6074651"/>
            <a:ext cx="4603724" cy="3766684"/>
          </a:xfrm>
          <a:custGeom>
            <a:avLst/>
            <a:gdLst/>
            <a:ahLst/>
            <a:cxnLst/>
            <a:rect l="l" t="t" r="r" b="b"/>
            <a:pathLst>
              <a:path w="4603724" h="3766684">
                <a:moveTo>
                  <a:pt x="4603724" y="0"/>
                </a:moveTo>
                <a:lnTo>
                  <a:pt x="0" y="0"/>
                </a:lnTo>
                <a:lnTo>
                  <a:pt x="0" y="3766683"/>
                </a:lnTo>
                <a:lnTo>
                  <a:pt x="4603724" y="3766683"/>
                </a:lnTo>
                <a:lnTo>
                  <a:pt x="460372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756902" y="7518902"/>
            <a:ext cx="15675137" cy="4391996"/>
          </a:xfrm>
          <a:custGeom>
            <a:avLst/>
            <a:gdLst/>
            <a:ahLst/>
            <a:cxnLst/>
            <a:rect l="l" t="t" r="r" b="b"/>
            <a:pathLst>
              <a:path w="15675137" h="4391996">
                <a:moveTo>
                  <a:pt x="0" y="0"/>
                </a:moveTo>
                <a:lnTo>
                  <a:pt x="15675137" y="0"/>
                </a:lnTo>
                <a:lnTo>
                  <a:pt x="15675137" y="4391996"/>
                </a:lnTo>
                <a:lnTo>
                  <a:pt x="0" y="43919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805285">
            <a:off x="15231190" y="706482"/>
            <a:ext cx="6621020" cy="5417199"/>
          </a:xfrm>
          <a:custGeom>
            <a:avLst/>
            <a:gdLst/>
            <a:ahLst/>
            <a:cxnLst/>
            <a:rect l="l" t="t" r="r" b="b"/>
            <a:pathLst>
              <a:path w="6621020" h="5417199">
                <a:moveTo>
                  <a:pt x="0" y="0"/>
                </a:moveTo>
                <a:lnTo>
                  <a:pt x="6621021" y="0"/>
                </a:lnTo>
                <a:lnTo>
                  <a:pt x="6621021" y="5417199"/>
                </a:lnTo>
                <a:lnTo>
                  <a:pt x="0" y="54171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182801" y="4617333"/>
            <a:ext cx="11922398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/>
            <a:r>
              <a:rPr lang="en-US" sz="6000" b="1" dirty="0">
                <a:cs typeface="B Nazanin" panose="00000400000000000000" pitchFamily="2" charset="-78"/>
              </a:rPr>
              <a:t>RLHF</a:t>
            </a:r>
            <a:r>
              <a:rPr lang="fa-IR" sz="6000" b="1" dirty="0">
                <a:cs typeface="B Nazanin" panose="00000400000000000000" pitchFamily="2" charset="-78"/>
              </a:rPr>
              <a:t> </a:t>
            </a:r>
            <a:r>
              <a:rPr lang="en-US" sz="6000" b="1" dirty="0">
                <a:cs typeface="B Nazanin" panose="00000400000000000000" pitchFamily="2" charset="-78"/>
              </a:rPr>
              <a:t> </a:t>
            </a:r>
            <a:r>
              <a:rPr lang="fa-IR" sz="6000" b="1" dirty="0">
                <a:cs typeface="B Nazanin" panose="00000400000000000000" pitchFamily="2" charset="-78"/>
              </a:rPr>
              <a:t>فقط درباره یادگیری تقویتی نیست؛</a:t>
            </a:r>
            <a:br>
              <a:rPr lang="fa-IR" sz="6000" b="1" dirty="0">
                <a:cs typeface="B Nazanin" panose="00000400000000000000" pitchFamily="2" charset="-78"/>
              </a:rPr>
            </a:br>
            <a:r>
              <a:rPr lang="fa-IR" sz="6000" b="1" dirty="0">
                <a:cs typeface="B Nazanin" panose="00000400000000000000" pitchFamily="2" charset="-78"/>
              </a:rPr>
              <a:t>بلکه درباره انتخاب درست داده و هدف است.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A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93EEB6-B6E4-54AA-2B49-8BADAD847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64A3475-C6B1-058F-40B4-CBDED19B06A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895" t="-29019" b="-3514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FBF976C-E8CD-3CB9-20DF-71D82F91CF42}"/>
              </a:ext>
            </a:extLst>
          </p:cNvPr>
          <p:cNvSpPr/>
          <p:nvPr/>
        </p:nvSpPr>
        <p:spPr>
          <a:xfrm flipH="1" flipV="1">
            <a:off x="6080666" y="-1286086"/>
            <a:ext cx="14678635" cy="4112787"/>
          </a:xfrm>
          <a:custGeom>
            <a:avLst/>
            <a:gdLst/>
            <a:ahLst/>
            <a:cxnLst/>
            <a:rect l="l" t="t" r="r" b="b"/>
            <a:pathLst>
              <a:path w="14678635" h="4112787">
                <a:moveTo>
                  <a:pt x="14678636" y="4112787"/>
                </a:moveTo>
                <a:lnTo>
                  <a:pt x="0" y="4112787"/>
                </a:lnTo>
                <a:lnTo>
                  <a:pt x="0" y="0"/>
                </a:lnTo>
                <a:lnTo>
                  <a:pt x="14678636" y="0"/>
                </a:lnTo>
                <a:lnTo>
                  <a:pt x="14678636" y="411278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D1BAFF3-D201-A09C-1906-0FDF42A156A9}"/>
              </a:ext>
            </a:extLst>
          </p:cNvPr>
          <p:cNvSpPr/>
          <p:nvPr/>
        </p:nvSpPr>
        <p:spPr>
          <a:xfrm rot="-4174148" flipH="1">
            <a:off x="-1273162" y="6074651"/>
            <a:ext cx="4603724" cy="3766684"/>
          </a:xfrm>
          <a:custGeom>
            <a:avLst/>
            <a:gdLst/>
            <a:ahLst/>
            <a:cxnLst/>
            <a:rect l="l" t="t" r="r" b="b"/>
            <a:pathLst>
              <a:path w="4603724" h="3766684">
                <a:moveTo>
                  <a:pt x="4603724" y="0"/>
                </a:moveTo>
                <a:lnTo>
                  <a:pt x="0" y="0"/>
                </a:lnTo>
                <a:lnTo>
                  <a:pt x="0" y="3766683"/>
                </a:lnTo>
                <a:lnTo>
                  <a:pt x="4603724" y="3766683"/>
                </a:lnTo>
                <a:lnTo>
                  <a:pt x="460372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916481F7-5AEB-5243-6320-8A0DABE62075}"/>
              </a:ext>
            </a:extLst>
          </p:cNvPr>
          <p:cNvSpPr/>
          <p:nvPr/>
        </p:nvSpPr>
        <p:spPr>
          <a:xfrm>
            <a:off x="-1756902" y="7518902"/>
            <a:ext cx="15675137" cy="4391996"/>
          </a:xfrm>
          <a:custGeom>
            <a:avLst/>
            <a:gdLst/>
            <a:ahLst/>
            <a:cxnLst/>
            <a:rect l="l" t="t" r="r" b="b"/>
            <a:pathLst>
              <a:path w="15675137" h="4391996">
                <a:moveTo>
                  <a:pt x="0" y="0"/>
                </a:moveTo>
                <a:lnTo>
                  <a:pt x="15675137" y="0"/>
                </a:lnTo>
                <a:lnTo>
                  <a:pt x="15675137" y="4391996"/>
                </a:lnTo>
                <a:lnTo>
                  <a:pt x="0" y="43919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7BAE551-8AF9-02D3-F5D9-AF7AEEF63BC2}"/>
              </a:ext>
            </a:extLst>
          </p:cNvPr>
          <p:cNvSpPr/>
          <p:nvPr/>
        </p:nvSpPr>
        <p:spPr>
          <a:xfrm rot="-805285">
            <a:off x="15231190" y="706482"/>
            <a:ext cx="6621020" cy="5417199"/>
          </a:xfrm>
          <a:custGeom>
            <a:avLst/>
            <a:gdLst/>
            <a:ahLst/>
            <a:cxnLst/>
            <a:rect l="l" t="t" r="r" b="b"/>
            <a:pathLst>
              <a:path w="6621020" h="5417199">
                <a:moveTo>
                  <a:pt x="0" y="0"/>
                </a:moveTo>
                <a:lnTo>
                  <a:pt x="6621021" y="0"/>
                </a:lnTo>
                <a:lnTo>
                  <a:pt x="6621021" y="5417199"/>
                </a:lnTo>
                <a:lnTo>
                  <a:pt x="0" y="54171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2A9B9B6-FFAC-1128-917B-74B53CEB8349}"/>
              </a:ext>
            </a:extLst>
          </p:cNvPr>
          <p:cNvSpPr txBox="1"/>
          <p:nvPr/>
        </p:nvSpPr>
        <p:spPr>
          <a:xfrm>
            <a:off x="3182801" y="4617333"/>
            <a:ext cx="11922398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/>
            <a:r>
              <a:rPr lang="fa-IR" sz="6000" b="1" dirty="0">
                <a:cs typeface="B Nazanin" panose="00000400000000000000" pitchFamily="2" charset="-78"/>
              </a:rPr>
              <a:t>سپاس از توجه شما</a:t>
            </a:r>
          </a:p>
        </p:txBody>
      </p:sp>
    </p:spTree>
    <p:extLst>
      <p:ext uri="{BB962C8B-B14F-4D97-AF65-F5344CB8AC3E}">
        <p14:creationId xmlns:p14="http://schemas.microsoft.com/office/powerpoint/2010/main" val="39533168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3335</TotalTime>
  <Words>623</Words>
  <Application>Microsoft Office PowerPoint</Application>
  <PresentationFormat>Custom</PresentationFormat>
  <Paragraphs>99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Gill Sans Bold</vt:lpstr>
      <vt:lpstr>Calibri</vt:lpstr>
      <vt:lpstr>Agrandir Narrow Bold Italics</vt:lpstr>
      <vt:lpstr>Arial</vt:lpstr>
      <vt:lpstr>Agrandir Narrow Bold</vt:lpstr>
      <vt:lpstr>B Nazanin</vt:lpstr>
      <vt:lpstr>Besmellah 1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Light Blue  Thesis Defense Presentation</dc:title>
  <dc:creator>hp</dc:creator>
  <cp:lastModifiedBy>payam saemi</cp:lastModifiedBy>
  <cp:revision>5</cp:revision>
  <dcterms:created xsi:type="dcterms:W3CDTF">2006-08-16T00:00:00Z</dcterms:created>
  <dcterms:modified xsi:type="dcterms:W3CDTF">2026-01-09T23:46:40Z</dcterms:modified>
  <dc:identifier>DAG9S6kT0AA</dc:identifier>
</cp:coreProperties>
</file>